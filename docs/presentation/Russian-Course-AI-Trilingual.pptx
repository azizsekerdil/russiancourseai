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b57177f89e04735" /><Relationship Type="http://schemas.openxmlformats.org/officeDocument/2006/relationships/extended-properties" Target="/docProps/app.xml" Id="R3553089f0bc64746" /><Relationship Type="http://schemas.openxmlformats.org/officeDocument/2006/relationships/officeDocument" Target="/ppt/presentation.xml" Id="Rd796dd1daaaa4a2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6557eaa1b4c42c7"/>
  </p:sldMasterIdLst>
  <p:notesMasterIdLst>
    <p:notesMasterId xmlns:r="http://schemas.openxmlformats.org/officeDocument/2006/relationships" r:id="R77016449c8944541"/>
  </p:notesMasterIdLst>
  <p:sldIdLst>
    <p:sldId xmlns:r="http://schemas.openxmlformats.org/officeDocument/2006/relationships" id="256" r:id="R54300787e149478e"/>
    <p:sldId xmlns:r="http://schemas.openxmlformats.org/officeDocument/2006/relationships" id="257" r:id="Raafa8e337e4647b5"/>
    <p:sldId xmlns:r="http://schemas.openxmlformats.org/officeDocument/2006/relationships" id="258" r:id="Rd90e7cc5e97d4f2c"/>
    <p:sldId xmlns:r="http://schemas.openxmlformats.org/officeDocument/2006/relationships" id="259" r:id="R8dfab424ddd94bf0"/>
    <p:sldId xmlns:r="http://schemas.openxmlformats.org/officeDocument/2006/relationships" id="260" r:id="R1d57af31516041d1"/>
    <p:sldId xmlns:r="http://schemas.openxmlformats.org/officeDocument/2006/relationships" id="261" r:id="R798d4c80684b405f"/>
    <p:sldId xmlns:r="http://schemas.openxmlformats.org/officeDocument/2006/relationships" id="262" r:id="Rd994f3d5371f498a"/>
    <p:sldId xmlns:r="http://schemas.openxmlformats.org/officeDocument/2006/relationships" id="263" r:id="R3c1c6e6f5d5242b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a5fe73eab8d413a" /><Relationship Type="http://schemas.openxmlformats.org/officeDocument/2006/relationships/slideMaster" Target="/ppt/slideMasters/slideMaster1.xml" Id="Rd6557eaa1b4c42c7" /><Relationship Type="http://schemas.openxmlformats.org/officeDocument/2006/relationships/notesMaster" Target="/ppt/notesMasters/notesMaster1.xml" Id="R77016449c8944541" /><Relationship Type="http://schemas.openxmlformats.org/officeDocument/2006/relationships/presProps" Target="/ppt/presProps.xml" Id="R0b507682ac534514" /><Relationship Type="http://schemas.openxmlformats.org/officeDocument/2006/relationships/tableStyles" Target="/ppt/tableStyles.xml" Id="R03b4057516c44816" /><Relationship Type="http://schemas.openxmlformats.org/officeDocument/2006/relationships/slide" Target="/ppt/slides/slide1.xml" Id="R54300787e149478e" /><Relationship Type="http://schemas.openxmlformats.org/officeDocument/2006/relationships/slide" Target="/ppt/slides/slide2.xml" Id="Raafa8e337e4647b5" /><Relationship Type="http://schemas.openxmlformats.org/officeDocument/2006/relationships/slide" Target="/ppt/slides/slide3.xml" Id="Rd90e7cc5e97d4f2c" /><Relationship Type="http://schemas.openxmlformats.org/officeDocument/2006/relationships/slide" Target="/ppt/slides/slide4.xml" Id="R8dfab424ddd94bf0" /><Relationship Type="http://schemas.openxmlformats.org/officeDocument/2006/relationships/slide" Target="/ppt/slides/slide5.xml" Id="R1d57af31516041d1" /><Relationship Type="http://schemas.openxmlformats.org/officeDocument/2006/relationships/slide" Target="/ppt/slides/slide6.xml" Id="R798d4c80684b405f" /><Relationship Type="http://schemas.openxmlformats.org/officeDocument/2006/relationships/slide" Target="/ppt/slides/slide7.xml" Id="Rd994f3d5371f498a" /><Relationship Type="http://schemas.openxmlformats.org/officeDocument/2006/relationships/slide" Target="/ppt/slides/slide8.xml" Id="R3c1c6e6f5d5242b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c0e06bbdb95405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92e6cb11cb64a91" /><Relationship Type="http://schemas.openxmlformats.org/officeDocument/2006/relationships/notesMaster" Target="/ppt/notesMasters/notesMaster1.xml" Id="R47ddf2f018a94c4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8d65c2848de46bf" /><Relationship Type="http://schemas.openxmlformats.org/officeDocument/2006/relationships/notesMaster" Target="/ppt/notesMasters/notesMaster1.xml" Id="Ra756c0f05ae64e5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39ad702ec6a4c69" /><Relationship Type="http://schemas.openxmlformats.org/officeDocument/2006/relationships/notesMaster" Target="/ppt/notesMasters/notesMaster1.xml" Id="R40a6b7cb0b4e47d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dfe451f902b4952" /><Relationship Type="http://schemas.openxmlformats.org/officeDocument/2006/relationships/notesMaster" Target="/ppt/notesMasters/notesMaster1.xml" Id="Rcbf7f4feaf71454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710ddced23f4354" /><Relationship Type="http://schemas.openxmlformats.org/officeDocument/2006/relationships/notesMaster" Target="/ppt/notesMasters/notesMaster1.xml" Id="R36c8587ef24443b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b7d82001da34f8e" /><Relationship Type="http://schemas.openxmlformats.org/officeDocument/2006/relationships/notesMaster" Target="/ppt/notesMasters/notesMaster1.xml" Id="R238448c09cd8499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42aeffcf34346de" /><Relationship Type="http://schemas.openxmlformats.org/officeDocument/2006/relationships/notesMaster" Target="/ppt/notesMasters/notesMaster1.xml" Id="Rb18424c2d823477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d39c5d41c51499a" /><Relationship Type="http://schemas.openxmlformats.org/officeDocument/2006/relationships/notesMaster" Target="/ppt/notesMasters/notesMaster1.xml" Id="Rd3b1660f8dd94fd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D:\Russian\README.md (product positioning and supported levels)</a:t>
            </a:r>
          </a:p>
          <a:p xmlns:a="http://schemas.openxmlformats.org/drawingml/2006/main">
            <a:r>
              <a:t>- D:\Russian\docs\presentation\assets\russian-course-ai-hero.png (AI-generated original cover visual)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D:\Russian\docs\presentation\assets\russian-course-ai-screenshot.png (user-supplied product screenshot)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D:\Russian\rca\i18n.py (Turkish, English, and Russian interface catalog)</a:t>
            </a:r>
          </a:p>
          <a:p xmlns:a="http://schemas.openxmlformats.org/drawingml/2006/main">
            <a:r>
              <a:t>- D:\Russian\Russian_Course_AI.pyw (instant and persistent language switching)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D:\Russian\rca\tabs\srs_tab.py (daily review workflow and five study modes)</a:t>
            </a:r>
          </a:p>
          <a:p xmlns:a="http://schemas.openxmlformats.org/drawingml/2006/main">
            <a:r>
              <a:t>- D:\Russian\Russian_Course_AI.pyw (learning, lab, read, practice, and system navigation groups)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D:\Russian\Russian_Course_AI.pyw (18 entries in TAB_SPECS)</a:t>
            </a:r>
          </a:p>
          <a:p xmlns:a="http://schemas.openxmlformats.org/drawingml/2006/main">
            <a:r>
              <a:t>- D:\Russian\rca\dictionary.py + rca\dict_data.py (RU-EN-TR dictionary with direction switch, 1,360 built-in entries with Turkish glosses, OpenRussian layer)</a:t>
            </a:r>
          </a:p>
          <a:p xmlns:a="http://schemas.openxmlformats.org/drawingml/2006/main">
            <a:r>
              <a:t>- D:\Russian\README.md (feature descriptions)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D:\Russian\README.md (local LM Studio, optional NVIDIA NIM, and Resource Center network behavior)</a:t>
            </a:r>
          </a:p>
          <a:p xmlns:a="http://schemas.openxmlformats.org/drawingml/2006/main">
            <a:r>
              <a:t>- D:\Russian\rca\db.py (SQLite persistence)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https://github.com/Azizsekerdil/RussianCourseAI/releases/tag/v1.2.1 (v1.2.1 release with Windows and macOS zip assets; private repository)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D:\Russian\README.md (installation, learning levels, and feature overview)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923868f055404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0798e7d856f4f79" /><Relationship Type="http://schemas.openxmlformats.org/officeDocument/2006/relationships/slideLayout" Target="/ppt/slideLayouts/slideLayout1.xml" Id="R1b0c977fa2ae4dc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b0c977fa2ae4dc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c072da9f19494b" /><Relationship Type="http://schemas.openxmlformats.org/officeDocument/2006/relationships/image" Target="/ppt/media/image.png" Id="Ra7fe46b7ba214ae8" /><Relationship Type="http://schemas.openxmlformats.org/officeDocument/2006/relationships/notesSlide" Target="/ppt/notesSlides/notesSlide1.xml" Id="R988adadeb517422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8788a72cb04894" /><Relationship Type="http://schemas.openxmlformats.org/officeDocument/2006/relationships/image" Target="/ppt/media/image2.png" Id="R5a2953713dd54900" /><Relationship Type="http://schemas.openxmlformats.org/officeDocument/2006/relationships/notesSlide" Target="/ppt/notesSlides/notesSlide2.xml" Id="R463a952955d0462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b4083f76d143fd" /><Relationship Type="http://schemas.openxmlformats.org/officeDocument/2006/relationships/notesSlide" Target="/ppt/notesSlides/notesSlide3.xml" Id="Ra879346c4efc4a9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664d42ee6546da" /><Relationship Type="http://schemas.openxmlformats.org/officeDocument/2006/relationships/notesSlide" Target="/ppt/notesSlides/notesSlide4.xml" Id="R4bacf6aa9e934f1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9875409b3448da" /><Relationship Type="http://schemas.openxmlformats.org/officeDocument/2006/relationships/notesSlide" Target="/ppt/notesSlides/notesSlide5.xml" Id="R827ad878f5c6429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6bf1b6e8c64e7d" /><Relationship Type="http://schemas.openxmlformats.org/officeDocument/2006/relationships/notesSlide" Target="/ppt/notesSlides/notesSlide6.xml" Id="Ra62e97851d63483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2aa01d952a4d97" /><Relationship Type="http://schemas.openxmlformats.org/officeDocument/2006/relationships/notesSlide" Target="/ppt/notesSlides/notesSlide7.xml" Id="R20f4695910f443a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ed6a32f43b4845" /><Relationship Type="http://schemas.openxmlformats.org/officeDocument/2006/relationships/notesSlide" Target="/ppt/notesSlides/notesSlide8.xml" Id="R5ae53009acb54fe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57C0D56F-C3BD-407D-AA51-C43C56DF6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DESKTOP RUSSIAN LEARNING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FAD35F1D-5113-48E6-A9D4-880D3221A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5334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Russian</a:t>
            </a:r>
          </a:p>
          <a:p xmlns:a="http://schemas.openxmlformats.org/drawingml/2006/main">
            <a:pPr algn="l">
              <a:defRPr sz="46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Course AI</a:t>
            </a:r>
          </a:p>
        </p:txBody>
      </p:sp>
      <p:sp>
        <p:nvSpPr>
          <p:cNvPr id="3" name="cover-rule">
            <a:extLst xmlns:a="http://schemas.openxmlformats.org/drawingml/2006/main">
              <a:ext uri="{FF2B5EF4-FFF2-40B4-BE49-F238E27FC236}">
                <a16:creationId xmlns:a16="http://schemas.microsoft.com/office/drawing/2014/main" id="{32460439-3821-48D1-92C5-BE5DE25CE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81300"/>
            <a:ext cx="121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D8DFF"/>
            </a:solidFill>
            <a:prstDash val="solid"/>
          </a:ln>
        </p:spPr>
      </p:sp>
      <p:sp>
        <p:nvSpPr>
          <p:cNvPr id="4" name="cover-tr">
            <a:extLst xmlns:a="http://schemas.openxmlformats.org/drawingml/2006/main">
              <a:ext uri="{FF2B5EF4-FFF2-40B4-BE49-F238E27FC236}">
                <a16:creationId xmlns:a16="http://schemas.microsoft.com/office/drawing/2014/main" id="{DA402468-81C2-46BA-9A5F-4B0710112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432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Rusçayı tek bir odaklı uygulamada öğrenin.</a:t>
            </a:r>
          </a:p>
        </p:txBody>
      </p:sp>
      <p:sp>
        <p:nvSpPr>
          <p:cNvPr id="5" name="cover-en">
            <a:extLst xmlns:a="http://schemas.openxmlformats.org/drawingml/2006/main">
              <a:ext uri="{FF2B5EF4-FFF2-40B4-BE49-F238E27FC236}">
                <a16:creationId xmlns:a16="http://schemas.microsoft.com/office/drawing/2014/main" id="{CBE10F99-2705-4C1F-9A48-3CCF3D508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9570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Learn Russian in one focused desktop app.</a:t>
            </a:r>
          </a:p>
        </p:txBody>
      </p:sp>
      <p:sp>
        <p:nvSpPr>
          <p:cNvPr id="6" name="cover-ru">
            <a:extLst xmlns:a="http://schemas.openxmlformats.org/drawingml/2006/main">
              <a:ext uri="{FF2B5EF4-FFF2-40B4-BE49-F238E27FC236}">
                <a16:creationId xmlns:a16="http://schemas.microsoft.com/office/drawing/2014/main" id="{B1DDA229-7281-43B9-ABEF-2D1C91AD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481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Изучайте русский в одном приложении.</a:t>
            </a:r>
          </a:p>
        </p:txBody>
      </p:sp>
      <p:sp>
        <p:nvSpPr>
          <p:cNvPr id="7" name="cover-meta">
            <a:extLst xmlns:a="http://schemas.openxmlformats.org/drawingml/2006/main">
              <a:ext uri="{FF2B5EF4-FFF2-40B4-BE49-F238E27FC236}">
                <a16:creationId xmlns:a16="http://schemas.microsoft.com/office/drawing/2014/main" id="{F44C107E-B28D-415A-A230-AB2E29048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Windows 10/11 (x64) + macOS (Apple Silicon)  •  A1-C1  •  TR / EN / RU</a:t>
            </a:r>
          </a:p>
        </p:txBody>
      </p:sp>
      <p:sp>
        <p:nvSpPr>
          <p:cNvPr id="8" name="hero-backing">
            <a:extLst xmlns:a="http://schemas.openxmlformats.org/drawingml/2006/main">
              <a:ext uri="{FF2B5EF4-FFF2-40B4-BE49-F238E27FC236}">
                <a16:creationId xmlns:a16="http://schemas.microsoft.com/office/drawing/2014/main" id="{C208F246-37E4-4501-84A1-6E98983D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0050"/>
            <a:ext cx="5543550" cy="5600700"/>
          </a:xfrm>
          <a:prstGeom xmlns:a="http://schemas.openxmlformats.org/drawingml/2006/main" prst="roundRect">
            <a:avLst>
              <a:gd name="adj" fmla="val 3093"/>
            </a:avLst>
          </a:prstGeom>
          <a:solidFill xmlns:a="http://schemas.openxmlformats.org/drawingml/2006/main">
            <a:srgbClr val="0F152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fe46b7ba214ae8"/>
          <a:srcRect xmlns:a="http://schemas.openxmlformats.org/drawingml/2006/main" l="510" t="0" r="51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67450" y="400050"/>
            <a:ext cx="5543550" cy="5600700"/>
          </a:xfrm>
          <a:prstGeom xmlns:a="http://schemas.openxmlformats.org/drawingml/2006/main" prst="roundRect">
            <a:avLst>
              <a:gd name="adj" fmla="val 3093"/>
            </a:avLst>
          </a:prstGeom>
        </p:spPr>
      </p:pic>
      <p:sp>
        <p:nvSpPr>
          <p:cNvPr id="10" name="footer-1">
            <a:extLst xmlns:a="http://schemas.openxmlformats.org/drawingml/2006/main">
              <a:ext uri="{FF2B5EF4-FFF2-40B4-BE49-F238E27FC236}">
                <a16:creationId xmlns:a16="http://schemas.microsoft.com/office/drawing/2014/main" id="{DC84DD52-C166-42BF-A2DB-9DA05C581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23448823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F15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creen-title">
            <a:extLst xmlns:a="http://schemas.openxmlformats.org/drawingml/2006/main">
              <a:ext uri="{FF2B5EF4-FFF2-40B4-BE49-F238E27FC236}">
                <a16:creationId xmlns:a16="http://schemas.microsoft.com/office/drawing/2014/main" id="{C13A8B36-7CE0-4713-B794-B54CAAEA3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One interface. Every practice mode.</a:t>
            </a:r>
          </a:p>
        </p:txBody>
      </p:sp>
      <p:sp>
        <p:nvSpPr>
          <p:cNvPr id="2" name="screen-subtitle">
            <a:extLst xmlns:a="http://schemas.openxmlformats.org/drawingml/2006/main">
              <a:ext uri="{FF2B5EF4-FFF2-40B4-BE49-F238E27FC236}">
                <a16:creationId xmlns:a16="http://schemas.microsoft.com/office/drawing/2014/main" id="{BBF12F14-E476-468D-88AA-1BF989E1B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7155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EB8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EB8CA"/>
                </a:solidFill>
                <a:latin typeface="Arial"/>
                <a:ea typeface="Arial"/>
                <a:cs typeface="Arial"/>
              </a:rPr>
              <a:t>Tek arayüz. Tüm çalışma biçimleri.  •  Один интерфейс. Все форматы практики.</a:t>
            </a:r>
          </a:p>
        </p:txBody>
      </p:sp>
      <p:sp>
        <p:nvSpPr>
          <p:cNvPr id="3" name="screen-frame">
            <a:extLst xmlns:a="http://schemas.openxmlformats.org/drawingml/2006/main">
              <a:ext uri="{FF2B5EF4-FFF2-40B4-BE49-F238E27FC236}">
                <a16:creationId xmlns:a16="http://schemas.microsoft.com/office/drawing/2014/main" id="{DD3B96A9-0CAC-4648-8EB1-E5EB9D564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85900"/>
            <a:ext cx="11049000" cy="4762500"/>
          </a:xfrm>
          <a:prstGeom xmlns:a="http://schemas.openxmlformats.org/drawingml/2006/main" prst="roundRect">
            <a:avLst>
              <a:gd name="adj" fmla="val 2800"/>
            </a:avLst>
          </a:prstGeom>
          <a:solidFill xmlns:a="http://schemas.openxmlformats.org/drawingml/2006/main">
            <a:srgbClr val="171D2A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2953713dd54900"/>
          <a:stretch xmlns:a="http://schemas.openxmlformats.org/drawingml/2006/main"/>
        </p:blipFill>
        <p:spPr>
          <a:xfrm xmlns:a="http://schemas.openxmlformats.org/drawingml/2006/main">
            <a:off x="2728015" y="1600200"/>
            <a:ext cx="6735971" cy="4533900"/>
          </a:xfrm>
          <a:prstGeom xmlns:a="http://schemas.openxmlformats.org/drawingml/2006/main" prst="roundRect">
            <a:avLst>
              <a:gd name="adj" fmla="val 2521"/>
            </a:avLst>
          </a:prstGeom>
        </p:spPr>
      </p:pic>
      <p:sp>
        <p:nvSpPr>
          <p:cNvPr id="5" name="screen-footer">
            <a:extLst xmlns:a="http://schemas.openxmlformats.org/drawingml/2006/main">
              <a:ext uri="{FF2B5EF4-FFF2-40B4-BE49-F238E27FC236}">
                <a16:creationId xmlns:a16="http://schemas.microsoft.com/office/drawing/2014/main" id="{62FD8A26-56CB-468E-8D36-C767C987A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AEB8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AEB8C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63892299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language-title">
            <a:extLst xmlns:a="http://schemas.openxmlformats.org/drawingml/2006/main">
              <a:ext uri="{FF2B5EF4-FFF2-40B4-BE49-F238E27FC236}">
                <a16:creationId xmlns:a16="http://schemas.microsoft.com/office/drawing/2014/main" id="{A207F1F1-A191-4380-B317-B5D8630AB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895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One interface, three languages</a:t>
            </a:r>
          </a:p>
        </p:txBody>
      </p:sp>
      <p:sp>
        <p:nvSpPr>
          <p:cNvPr id="2" name="language-subtitle">
            <a:extLst xmlns:a="http://schemas.openxmlformats.org/drawingml/2006/main">
              <a:ext uri="{FF2B5EF4-FFF2-40B4-BE49-F238E27FC236}">
                <a16:creationId xmlns:a16="http://schemas.microsoft.com/office/drawing/2014/main" id="{B839A191-E037-48C7-84FB-15690141E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Dil seçimi anında uygulanır ve sonraki açılış için kaydedilir.</a:t>
            </a:r>
          </a:p>
        </p:txBody>
      </p:sp>
      <p:sp>
        <p:nvSpPr>
          <p:cNvPr id="3" name="language-rule">
            <a:extLst xmlns:a="http://schemas.openxmlformats.org/drawingml/2006/main">
              <a:ext uri="{FF2B5EF4-FFF2-40B4-BE49-F238E27FC236}">
                <a16:creationId xmlns:a16="http://schemas.microsoft.com/office/drawing/2014/main" id="{B01232BE-4B4E-4433-AFBE-43C0ECC64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669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language-label-0">
            <a:extLst xmlns:a="http://schemas.openxmlformats.org/drawingml/2006/main">
              <a:ext uri="{FF2B5EF4-FFF2-40B4-BE49-F238E27FC236}">
                <a16:creationId xmlns:a16="http://schemas.microsoft.com/office/drawing/2014/main" id="{32868BEC-C82C-49AE-89EC-69EB3586C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669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TÜRKÇE</a:t>
            </a:r>
          </a:p>
        </p:txBody>
      </p:sp>
      <p:sp>
        <p:nvSpPr>
          <p:cNvPr id="5" name="language-head-0">
            <a:extLst xmlns:a="http://schemas.openxmlformats.org/drawingml/2006/main">
              <a:ext uri="{FF2B5EF4-FFF2-40B4-BE49-F238E27FC236}">
                <a16:creationId xmlns:a16="http://schemas.microsoft.com/office/drawing/2014/main" id="{43A39C43-75D4-451F-980A-253396AD5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81300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Öğrenmeye odaklanın</a:t>
            </a:r>
          </a:p>
        </p:txBody>
      </p:sp>
      <p:sp>
        <p:nvSpPr>
          <p:cNvPr id="6" name="language-body-0">
            <a:extLst xmlns:a="http://schemas.openxmlformats.org/drawingml/2006/main">
              <a:ext uri="{FF2B5EF4-FFF2-40B4-BE49-F238E27FC236}">
                <a16:creationId xmlns:a16="http://schemas.microsoft.com/office/drawing/2014/main" id="{49620499-4FAA-4883-8426-2996878C3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0"/>
            <a:ext cx="3333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Menüler, çalışma akışı ve AI yönergeleri seçtiğiniz dile uyum sağlar.</a:t>
            </a:r>
          </a:p>
        </p:txBody>
      </p:sp>
      <p:sp>
        <p:nvSpPr>
          <p:cNvPr id="7" name="language-accent-0">
            <a:extLst xmlns:a="http://schemas.openxmlformats.org/drawingml/2006/main">
              <a:ext uri="{FF2B5EF4-FFF2-40B4-BE49-F238E27FC236}">
                <a16:creationId xmlns:a16="http://schemas.microsoft.com/office/drawing/2014/main" id="{AFD01959-F57C-4D93-A84C-551352445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34000"/>
            <a:ext cx="106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0131A"/>
            </a:solidFill>
            <a:prstDash val="solid"/>
          </a:ln>
        </p:spPr>
      </p:sp>
      <p:sp>
        <p:nvSpPr>
          <p:cNvPr id="8" name="language-label-1">
            <a:extLst xmlns:a="http://schemas.openxmlformats.org/drawingml/2006/main">
              <a:ext uri="{FF2B5EF4-FFF2-40B4-BE49-F238E27FC236}">
                <a16:creationId xmlns:a16="http://schemas.microsoft.com/office/drawing/2014/main" id="{770DE9F7-8DC0-438D-AD5A-4FEEC2316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2669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ENGLISH</a:t>
            </a:r>
          </a:p>
        </p:txBody>
      </p:sp>
      <p:sp>
        <p:nvSpPr>
          <p:cNvPr id="9" name="language-head-1">
            <a:extLst xmlns:a="http://schemas.openxmlformats.org/drawingml/2006/main">
              <a:ext uri="{FF2B5EF4-FFF2-40B4-BE49-F238E27FC236}">
                <a16:creationId xmlns:a16="http://schemas.microsoft.com/office/drawing/2014/main" id="{31ADDBE6-8C18-4064-A7A9-A91452EE5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81300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Learn without friction</a:t>
            </a:r>
          </a:p>
        </p:txBody>
      </p:sp>
      <p:sp>
        <p:nvSpPr>
          <p:cNvPr id="10" name="language-body-1">
            <a:extLst xmlns:a="http://schemas.openxmlformats.org/drawingml/2006/main">
              <a:ext uri="{FF2B5EF4-FFF2-40B4-BE49-F238E27FC236}">
                <a16:creationId xmlns:a16="http://schemas.microsoft.com/office/drawing/2014/main" id="{ABF9BF5C-6C70-4040-A395-2D4F52E8C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810000"/>
            <a:ext cx="3333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3D8DFF"/>
                </a:solidFill>
                <a:latin typeface="Arial"/>
                <a:ea typeface="Arial"/>
                <a:cs typeface="Arial"/>
              </a:rPr>
              <a:t>Navigation, study flows, and AI guidance follow your selected language.</a:t>
            </a:r>
          </a:p>
        </p:txBody>
      </p:sp>
      <p:sp>
        <p:nvSpPr>
          <p:cNvPr id="11" name="language-accent-1">
            <a:extLst xmlns:a="http://schemas.openxmlformats.org/drawingml/2006/main">
              <a:ext uri="{FF2B5EF4-FFF2-40B4-BE49-F238E27FC236}">
                <a16:creationId xmlns:a16="http://schemas.microsoft.com/office/drawing/2014/main" id="{BF70DCD5-ABE6-4FCC-A0E1-5B16A2590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334000"/>
            <a:ext cx="106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D8DFF"/>
            </a:solidFill>
            <a:prstDash val="solid"/>
          </a:ln>
        </p:spPr>
      </p:sp>
      <p:sp>
        <p:nvSpPr>
          <p:cNvPr id="12" name="language-label-2">
            <a:extLst xmlns:a="http://schemas.openxmlformats.org/drawingml/2006/main">
              <a:ext uri="{FF2B5EF4-FFF2-40B4-BE49-F238E27FC236}">
                <a16:creationId xmlns:a16="http://schemas.microsoft.com/office/drawing/2014/main" id="{001E6C8C-CD91-4019-A2BB-65BDB2BD8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669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РУССКИЙ</a:t>
            </a:r>
          </a:p>
        </p:txBody>
      </p:sp>
      <p:sp>
        <p:nvSpPr>
          <p:cNvPr id="13" name="language-head-2">
            <a:extLst xmlns:a="http://schemas.openxmlformats.org/drawingml/2006/main">
              <a:ext uri="{FF2B5EF4-FFF2-40B4-BE49-F238E27FC236}">
                <a16:creationId xmlns:a16="http://schemas.microsoft.com/office/drawing/2014/main" id="{FE8C3460-FB77-4636-8D5A-C2CE8C5F8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81300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Учитесь без барьеров</a:t>
            </a:r>
          </a:p>
        </p:txBody>
      </p:sp>
      <p:sp>
        <p:nvSpPr>
          <p:cNvPr id="14" name="language-body-2">
            <a:extLst xmlns:a="http://schemas.openxmlformats.org/drawingml/2006/main">
              <a:ext uri="{FF2B5EF4-FFF2-40B4-BE49-F238E27FC236}">
                <a16:creationId xmlns:a16="http://schemas.microsoft.com/office/drawing/2014/main" id="{7D05D282-01C8-40A6-9029-49C06840C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810000"/>
            <a:ext cx="3333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Навигация, упражнения и инструкции для ИИ работают на выбранном языке.</a:t>
            </a:r>
          </a:p>
        </p:txBody>
      </p:sp>
      <p:sp>
        <p:nvSpPr>
          <p:cNvPr id="15" name="language-accent-2">
            <a:extLst xmlns:a="http://schemas.openxmlformats.org/drawingml/2006/main">
              <a:ext uri="{FF2B5EF4-FFF2-40B4-BE49-F238E27FC236}">
                <a16:creationId xmlns:a16="http://schemas.microsoft.com/office/drawing/2014/main" id="{5B49CFE8-6F60-4BC1-ABCB-C32C95914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334000"/>
            <a:ext cx="106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F6675"/>
            </a:solidFill>
            <a:prstDash val="solid"/>
          </a:ln>
        </p:spPr>
      </p:sp>
      <p:sp>
        <p:nvSpPr>
          <p:cNvPr id="16" name="footer-3">
            <a:extLst xmlns:a="http://schemas.openxmlformats.org/drawingml/2006/main">
              <a:ext uri="{FF2B5EF4-FFF2-40B4-BE49-F238E27FC236}">
                <a16:creationId xmlns:a16="http://schemas.microsoft.com/office/drawing/2014/main" id="{1D28FCF2-03C0-47AA-AD5C-AA2FEAB3B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49221847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loop-title">
            <a:extLst xmlns:a="http://schemas.openxmlformats.org/drawingml/2006/main">
              <a:ext uri="{FF2B5EF4-FFF2-40B4-BE49-F238E27FC236}">
                <a16:creationId xmlns:a16="http://schemas.microsoft.com/office/drawing/2014/main" id="{BDEA8E52-ADB0-4249-B109-B801024C0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952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A daily loop that keeps momentum</a:t>
            </a:r>
          </a:p>
        </p:txBody>
      </p:sp>
      <p:sp>
        <p:nvSpPr>
          <p:cNvPr id="2" name="loop-subtitle">
            <a:extLst xmlns:a="http://schemas.openxmlformats.org/drawingml/2006/main">
              <a:ext uri="{FF2B5EF4-FFF2-40B4-BE49-F238E27FC236}">
                <a16:creationId xmlns:a16="http://schemas.microsoft.com/office/drawing/2014/main" id="{A332272F-C7FD-487E-A312-A1257EE92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Her gün küçük bir döngü.  •  A small loop every day.  •  Небольшой цикл каждый день.</a:t>
            </a:r>
          </a:p>
        </p:txBody>
      </p:sp>
      <p:sp>
        <p:nvSpPr>
          <p:cNvPr id="3" name="loop-track">
            <a:extLst xmlns:a="http://schemas.openxmlformats.org/drawingml/2006/main">
              <a:ext uri="{FF2B5EF4-FFF2-40B4-BE49-F238E27FC236}">
                <a16:creationId xmlns:a16="http://schemas.microsoft.com/office/drawing/2014/main" id="{C2988F6C-6843-4573-A62A-44C9A6DC9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43250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BCC4"/>
            </a:solidFill>
            <a:prstDash val="solid"/>
          </a:ln>
        </p:spPr>
      </p:sp>
      <p:sp>
        <p:nvSpPr>
          <p:cNvPr id="4" name="loop-node-0">
            <a:extLst xmlns:a="http://schemas.openxmlformats.org/drawingml/2006/main">
              <a:ext uri="{FF2B5EF4-FFF2-40B4-BE49-F238E27FC236}">
                <a16:creationId xmlns:a16="http://schemas.microsoft.com/office/drawing/2014/main" id="{44D2B460-7E11-437A-B727-61424F0CD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57500"/>
            <a:ext cx="59055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3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loop-number-0">
            <a:extLst xmlns:a="http://schemas.openxmlformats.org/drawingml/2006/main">
              <a:ext uri="{FF2B5EF4-FFF2-40B4-BE49-F238E27FC236}">
                <a16:creationId xmlns:a16="http://schemas.microsoft.com/office/drawing/2014/main" id="{6E95C2B0-056E-4BDF-8222-E0A5B0676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09900"/>
            <a:ext cx="59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loop-en-0">
            <a:extLst xmlns:a="http://schemas.openxmlformats.org/drawingml/2006/main">
              <a:ext uri="{FF2B5EF4-FFF2-40B4-BE49-F238E27FC236}">
                <a16:creationId xmlns:a16="http://schemas.microsoft.com/office/drawing/2014/main" id="{4D94D5B0-8898-4B0A-AF44-52E0DE6A1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290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7" name="loop-tr-0">
            <a:extLst xmlns:a="http://schemas.openxmlformats.org/drawingml/2006/main">
              <a:ext uri="{FF2B5EF4-FFF2-40B4-BE49-F238E27FC236}">
                <a16:creationId xmlns:a16="http://schemas.microsoft.com/office/drawing/2014/main" id="{E6B93BDF-A7AA-49E8-B795-1C1AE1C43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ÖĞREN</a:t>
            </a:r>
          </a:p>
        </p:txBody>
      </p:sp>
      <p:sp>
        <p:nvSpPr>
          <p:cNvPr id="8" name="loop-ru-0">
            <a:extLst xmlns:a="http://schemas.openxmlformats.org/drawingml/2006/main">
              <a:ext uri="{FF2B5EF4-FFF2-40B4-BE49-F238E27FC236}">
                <a16:creationId xmlns:a16="http://schemas.microsoft.com/office/drawing/2014/main" id="{7D272DC1-4CC2-4093-A62B-4289D3E5F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29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УЧИТЬ</a:t>
            </a:r>
          </a:p>
        </p:txBody>
      </p:sp>
      <p:sp>
        <p:nvSpPr>
          <p:cNvPr id="9" name="loop-detail-0">
            <a:extLst xmlns:a="http://schemas.openxmlformats.org/drawingml/2006/main">
              <a:ext uri="{FF2B5EF4-FFF2-40B4-BE49-F238E27FC236}">
                <a16:creationId xmlns:a16="http://schemas.microsoft.com/office/drawing/2014/main" id="{631F9297-3139-4117-9919-6B70169F1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006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Words • Dictionary • Cyrillic • Grammar</a:t>
            </a:r>
          </a:p>
        </p:txBody>
      </p:sp>
      <p:sp>
        <p:nvSpPr>
          <p:cNvPr id="10" name="loop-node-1">
            <a:extLst xmlns:a="http://schemas.openxmlformats.org/drawingml/2006/main">
              <a:ext uri="{FF2B5EF4-FFF2-40B4-BE49-F238E27FC236}">
                <a16:creationId xmlns:a16="http://schemas.microsoft.com/office/drawing/2014/main" id="{4A78449F-441D-4320-B552-CF481DEC4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857500"/>
            <a:ext cx="59055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loop-number-1">
            <a:extLst xmlns:a="http://schemas.openxmlformats.org/drawingml/2006/main">
              <a:ext uri="{FF2B5EF4-FFF2-40B4-BE49-F238E27FC236}">
                <a16:creationId xmlns:a16="http://schemas.microsoft.com/office/drawing/2014/main" id="{313C074E-E5DB-46F7-B858-D929E37CA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09900"/>
            <a:ext cx="59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loop-en-1">
            <a:extLst xmlns:a="http://schemas.openxmlformats.org/drawingml/2006/main">
              <a:ext uri="{FF2B5EF4-FFF2-40B4-BE49-F238E27FC236}">
                <a16:creationId xmlns:a16="http://schemas.microsoft.com/office/drawing/2014/main" id="{498009F6-F1F3-4B18-9735-0B929B9C2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8290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PRACTICE</a:t>
            </a:r>
          </a:p>
        </p:txBody>
      </p:sp>
      <p:sp>
        <p:nvSpPr>
          <p:cNvPr id="13" name="loop-tr-1">
            <a:extLst xmlns:a="http://schemas.openxmlformats.org/drawingml/2006/main">
              <a:ext uri="{FF2B5EF4-FFF2-40B4-BE49-F238E27FC236}">
                <a16:creationId xmlns:a16="http://schemas.microsoft.com/office/drawing/2014/main" id="{ECFB757C-115B-43B6-AB3A-26C7DCA69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2672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PRATİK</a:t>
            </a:r>
          </a:p>
        </p:txBody>
      </p:sp>
      <p:sp>
        <p:nvSpPr>
          <p:cNvPr id="14" name="loop-ru-1">
            <a:extLst xmlns:a="http://schemas.openxmlformats.org/drawingml/2006/main">
              <a:ext uri="{FF2B5EF4-FFF2-40B4-BE49-F238E27FC236}">
                <a16:creationId xmlns:a16="http://schemas.microsoft.com/office/drawing/2014/main" id="{4177F07F-CDB0-427B-B640-53E7A3FE7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629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ПРАКТИКА</a:t>
            </a:r>
          </a:p>
        </p:txBody>
      </p:sp>
      <p:sp>
        <p:nvSpPr>
          <p:cNvPr id="15" name="loop-detail-1">
            <a:extLst xmlns:a="http://schemas.openxmlformats.org/drawingml/2006/main">
              <a:ext uri="{FF2B5EF4-FFF2-40B4-BE49-F238E27FC236}">
                <a16:creationId xmlns:a16="http://schemas.microsoft.com/office/drawing/2014/main" id="{B9A4E827-D707-4AF8-ADCC-91BD5D249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2006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Speaking • Writing • Pronunciation</a:t>
            </a:r>
          </a:p>
        </p:txBody>
      </p:sp>
      <p:sp>
        <p:nvSpPr>
          <p:cNvPr id="16" name="loop-node-2">
            <a:extLst xmlns:a="http://schemas.openxmlformats.org/drawingml/2006/main">
              <a:ext uri="{FF2B5EF4-FFF2-40B4-BE49-F238E27FC236}">
                <a16:creationId xmlns:a16="http://schemas.microsoft.com/office/drawing/2014/main" id="{DB59E30E-5CA8-470E-80B1-65A1DBB87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57500"/>
            <a:ext cx="59055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3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loop-number-2">
            <a:extLst xmlns:a="http://schemas.openxmlformats.org/drawingml/2006/main">
              <a:ext uri="{FF2B5EF4-FFF2-40B4-BE49-F238E27FC236}">
                <a16:creationId xmlns:a16="http://schemas.microsoft.com/office/drawing/2014/main" id="{48AE4683-5D79-4AC3-B573-EC96CDB85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009900"/>
            <a:ext cx="59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8" name="loop-en-2">
            <a:extLst xmlns:a="http://schemas.openxmlformats.org/drawingml/2006/main">
              <a:ext uri="{FF2B5EF4-FFF2-40B4-BE49-F238E27FC236}">
                <a16:creationId xmlns:a16="http://schemas.microsoft.com/office/drawing/2014/main" id="{4D6E8F3E-48AF-4D08-9D5D-9A5942EC5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8290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REVIEW</a:t>
            </a:r>
          </a:p>
        </p:txBody>
      </p:sp>
      <p:sp>
        <p:nvSpPr>
          <p:cNvPr id="19" name="loop-tr-2">
            <a:extLst xmlns:a="http://schemas.openxmlformats.org/drawingml/2006/main">
              <a:ext uri="{FF2B5EF4-FFF2-40B4-BE49-F238E27FC236}">
                <a16:creationId xmlns:a16="http://schemas.microsoft.com/office/drawing/2014/main" id="{9CFF4D03-4A47-4B35-92A6-2CE511702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2672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TEKRAR</a:t>
            </a:r>
          </a:p>
        </p:txBody>
      </p:sp>
      <p:sp>
        <p:nvSpPr>
          <p:cNvPr id="20" name="loop-ru-2">
            <a:extLst xmlns:a="http://schemas.openxmlformats.org/drawingml/2006/main">
              <a:ext uri="{FF2B5EF4-FFF2-40B4-BE49-F238E27FC236}">
                <a16:creationId xmlns:a16="http://schemas.microsoft.com/office/drawing/2014/main" id="{89BE00E3-B931-4951-9AA2-C6E1515C6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629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ПОВТОРЕНИЕ</a:t>
            </a:r>
          </a:p>
        </p:txBody>
      </p:sp>
      <p:sp>
        <p:nvSpPr>
          <p:cNvPr id="21" name="loop-detail-2">
            <a:extLst xmlns:a="http://schemas.openxmlformats.org/drawingml/2006/main">
              <a:ext uri="{FF2B5EF4-FFF2-40B4-BE49-F238E27FC236}">
                <a16:creationId xmlns:a16="http://schemas.microsoft.com/office/drawing/2014/main" id="{21E4DFB2-018F-400A-ACE0-30D71BCFC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2006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Spaced review • Exams • Progress</a:t>
            </a:r>
          </a:p>
        </p:txBody>
      </p:sp>
      <p:sp>
        <p:nvSpPr>
          <p:cNvPr id="22" name="footer-4">
            <a:extLst xmlns:a="http://schemas.openxmlformats.org/drawingml/2006/main">
              <a:ext uri="{FF2B5EF4-FFF2-40B4-BE49-F238E27FC236}">
                <a16:creationId xmlns:a16="http://schemas.microsoft.com/office/drawing/2014/main" id="{299CA8B1-489F-4466-BDA5-5CFE1CE83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15134654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DEF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breadth-title">
            <a:extLst xmlns:a="http://schemas.openxmlformats.org/drawingml/2006/main">
              <a:ext uri="{FF2B5EF4-FFF2-40B4-BE49-F238E27FC236}">
                <a16:creationId xmlns:a16="http://schemas.microsoft.com/office/drawing/2014/main" id="{9EE0551D-1B54-4DFC-996B-827A6AB2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More than flashcards</a:t>
            </a:r>
          </a:p>
        </p:txBody>
      </p:sp>
      <p:sp>
        <p:nvSpPr>
          <p:cNvPr id="2" name="breadth-triple">
            <a:extLst xmlns:a="http://schemas.openxmlformats.org/drawingml/2006/main">
              <a:ext uri="{FF2B5EF4-FFF2-40B4-BE49-F238E27FC236}">
                <a16:creationId xmlns:a16="http://schemas.microsoft.com/office/drawing/2014/main" id="{F54F6BBE-2EFE-4E82-ACF8-54C4CBAC4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287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Kelime kartlarından fazlası  •  Больше, чем карточки</a:t>
            </a:r>
          </a:p>
        </p:txBody>
      </p:sp>
      <p:sp>
        <p:nvSpPr>
          <p:cNvPr id="3" name="breadth-number">
            <a:extLst xmlns:a="http://schemas.openxmlformats.org/drawingml/2006/main">
              <a:ext uri="{FF2B5EF4-FFF2-40B4-BE49-F238E27FC236}">
                <a16:creationId xmlns:a16="http://schemas.microsoft.com/office/drawing/2014/main" id="{6BA4D645-B90F-420B-97AD-98147D25F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962150"/>
            <a:ext cx="3429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12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4" name="breadth-caption">
            <a:extLst xmlns:a="http://schemas.openxmlformats.org/drawingml/2006/main">
              <a:ext uri="{FF2B5EF4-FFF2-40B4-BE49-F238E27FC236}">
                <a16:creationId xmlns:a16="http://schemas.microsoft.com/office/drawing/2014/main" id="{FA349433-9A54-4922-A067-182892A76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48150"/>
            <a:ext cx="4000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focused workspaces</a:t>
            </a:r>
          </a:p>
          <a:p xmlns:a="http://schemas.openxmlformats.org/drawingml/2006/main">
            <a:pPr algn="l">
              <a:defRPr sz="187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odaklı çalışma alanı</a:t>
            </a:r>
          </a:p>
          <a:p xmlns:a="http://schemas.openxmlformats.org/drawingml/2006/main">
            <a:pPr algn="l">
              <a:defRPr sz="187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специализированных разделов</a:t>
            </a:r>
          </a:p>
        </p:txBody>
      </p:sp>
      <p:sp>
        <p:nvSpPr>
          <p:cNvPr id="5" name="breadth-divider">
            <a:extLst xmlns:a="http://schemas.openxmlformats.org/drawingml/2006/main">
              <a:ext uri="{FF2B5EF4-FFF2-40B4-BE49-F238E27FC236}">
                <a16:creationId xmlns:a16="http://schemas.microsoft.com/office/drawing/2014/main" id="{937F2EBF-89EC-40F3-9F17-9669FCAFC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790700"/>
            <a:ext cx="0" cy="3943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breadth-item-rule-0">
            <a:extLst xmlns:a="http://schemas.openxmlformats.org/drawingml/2006/main">
              <a:ext uri="{FF2B5EF4-FFF2-40B4-BE49-F238E27FC236}">
                <a16:creationId xmlns:a16="http://schemas.microsoft.com/office/drawing/2014/main" id="{BFF2F326-0838-4A31-AA15-0D6CF943D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24790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breadth-item-0">
            <a:extLst xmlns:a="http://schemas.openxmlformats.org/drawingml/2006/main">
              <a:ext uri="{FF2B5EF4-FFF2-40B4-BE49-F238E27FC236}">
                <a16:creationId xmlns:a16="http://schemas.microsoft.com/office/drawing/2014/main" id="{C1D9EDB9-DA43-4B2A-AF54-B46825FE0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192405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RU-EN-TR dictionary · Yön seçimli sözlük · Словарь RU-EN-TR</a:t>
            </a:r>
          </a:p>
        </p:txBody>
      </p:sp>
      <p:sp>
        <p:nvSpPr>
          <p:cNvPr id="8" name="breadth-item-rule-1">
            <a:extLst xmlns:a="http://schemas.openxmlformats.org/drawingml/2006/main">
              <a:ext uri="{FF2B5EF4-FFF2-40B4-BE49-F238E27FC236}">
                <a16:creationId xmlns:a16="http://schemas.microsoft.com/office/drawing/2014/main" id="{B8406D54-C356-424C-A632-F91624AF9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80035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breadth-item-1">
            <a:extLst xmlns:a="http://schemas.openxmlformats.org/drawingml/2006/main">
              <a:ext uri="{FF2B5EF4-FFF2-40B4-BE49-F238E27FC236}">
                <a16:creationId xmlns:a16="http://schemas.microsoft.com/office/drawing/2014/main" id="{D86A3439-1183-4B33-A4EA-1E94D9D08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47650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Word bank &amp; grammar · Kelime bankası · Грамматика</a:t>
            </a:r>
          </a:p>
        </p:txBody>
      </p:sp>
      <p:sp>
        <p:nvSpPr>
          <p:cNvPr id="10" name="breadth-item-rule-2">
            <a:extLst xmlns:a="http://schemas.openxmlformats.org/drawingml/2006/main">
              <a:ext uri="{FF2B5EF4-FFF2-40B4-BE49-F238E27FC236}">
                <a16:creationId xmlns:a16="http://schemas.microsoft.com/office/drawing/2014/main" id="{B7422FE0-0078-40A8-8B82-30DCFE128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35280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breadth-item-2">
            <a:extLst xmlns:a="http://schemas.openxmlformats.org/drawingml/2006/main">
              <a:ext uri="{FF2B5EF4-FFF2-40B4-BE49-F238E27FC236}">
                <a16:creationId xmlns:a16="http://schemas.microsoft.com/office/drawing/2014/main" id="{4E1C1E0C-4E99-44C5-B3BE-59043F98C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02895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PDF reader · PDF okuyucu · PDF-читалка</a:t>
            </a:r>
          </a:p>
        </p:txBody>
      </p:sp>
      <p:sp>
        <p:nvSpPr>
          <p:cNvPr id="12" name="breadth-item-rule-3">
            <a:extLst xmlns:a="http://schemas.openxmlformats.org/drawingml/2006/main">
              <a:ext uri="{FF2B5EF4-FFF2-40B4-BE49-F238E27FC236}">
                <a16:creationId xmlns:a16="http://schemas.microsoft.com/office/drawing/2014/main" id="{43F2BCE6-9803-45E5-B0F0-A94FAB79A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90525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breadth-item-3">
            <a:extLst xmlns:a="http://schemas.openxmlformats.org/drawingml/2006/main">
              <a:ext uri="{FF2B5EF4-FFF2-40B4-BE49-F238E27FC236}">
                <a16:creationId xmlns:a16="http://schemas.microsoft.com/office/drawing/2014/main" id="{FFD6F0F2-EE45-4003-AC4F-3A394A57B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58140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AI tutor · AI öğretmen · ИИ-преподаватель</a:t>
            </a:r>
          </a:p>
        </p:txBody>
      </p:sp>
      <p:sp>
        <p:nvSpPr>
          <p:cNvPr id="14" name="breadth-item-rule-4">
            <a:extLst xmlns:a="http://schemas.openxmlformats.org/drawingml/2006/main">
              <a:ext uri="{FF2B5EF4-FFF2-40B4-BE49-F238E27FC236}">
                <a16:creationId xmlns:a16="http://schemas.microsoft.com/office/drawing/2014/main" id="{16774F71-B35C-4321-97DE-6EBBB4C41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45770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9DE"/>
            </a:solidFill>
            <a:prstDash val="solid"/>
          </a:ln>
        </p:spPr>
      </p:sp>
      <p:sp>
        <p:nvSpPr>
          <p:cNvPr id="15" name="breadth-item-4">
            <a:extLst xmlns:a="http://schemas.openxmlformats.org/drawingml/2006/main">
              <a:ext uri="{FF2B5EF4-FFF2-40B4-BE49-F238E27FC236}">
                <a16:creationId xmlns:a16="http://schemas.microsoft.com/office/drawing/2014/main" id="{90C89C2D-70B9-4D8E-A60A-649FD2D02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13385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Speaking, handwriting, exams, progress</a:t>
            </a:r>
          </a:p>
        </p:txBody>
      </p:sp>
      <p:sp>
        <p:nvSpPr>
          <p:cNvPr id="16" name="breadth-item-rule-5">
            <a:extLst xmlns:a="http://schemas.openxmlformats.org/drawingml/2006/main">
              <a:ext uri="{FF2B5EF4-FFF2-40B4-BE49-F238E27FC236}">
                <a16:creationId xmlns:a16="http://schemas.microsoft.com/office/drawing/2014/main" id="{0B97508B-DDA4-4D09-A9FE-3908A41EC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01015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9DE"/>
            </a:solidFill>
            <a:prstDash val="solid"/>
          </a:ln>
        </p:spPr>
      </p:sp>
      <p:sp>
        <p:nvSpPr>
          <p:cNvPr id="17" name="breadth-item-5">
            <a:extLst xmlns:a="http://schemas.openxmlformats.org/drawingml/2006/main">
              <a:ext uri="{FF2B5EF4-FFF2-40B4-BE49-F238E27FC236}">
                <a16:creationId xmlns:a16="http://schemas.microsoft.com/office/drawing/2014/main" id="{5E0E9A48-A21C-4C01-90A2-CACBD01AD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68630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Konuşma, el yazısı, sınav, ilerleme</a:t>
            </a:r>
          </a:p>
        </p:txBody>
      </p:sp>
      <p:sp>
        <p:nvSpPr>
          <p:cNvPr id="18" name="breadth-item-rule-6">
            <a:extLst xmlns:a="http://schemas.openxmlformats.org/drawingml/2006/main">
              <a:ext uri="{FF2B5EF4-FFF2-40B4-BE49-F238E27FC236}">
                <a16:creationId xmlns:a16="http://schemas.microsoft.com/office/drawing/2014/main" id="{3A73E46E-60B2-4B7D-BFB4-C47A6B711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56260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9DE"/>
            </a:solidFill>
            <a:prstDash val="solid"/>
          </a:ln>
        </p:spPr>
      </p:sp>
      <p:sp>
        <p:nvSpPr>
          <p:cNvPr id="19" name="breadth-item-6">
            <a:extLst xmlns:a="http://schemas.openxmlformats.org/drawingml/2006/main">
              <a:ext uri="{FF2B5EF4-FFF2-40B4-BE49-F238E27FC236}">
                <a16:creationId xmlns:a16="http://schemas.microsoft.com/office/drawing/2014/main" id="{188074F6-9917-4C1B-8FAD-C75ACA5B6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23875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Разговор, почерк, экзамены, прогресс</a:t>
            </a:r>
          </a:p>
        </p:txBody>
      </p:sp>
      <p:sp>
        <p:nvSpPr>
          <p:cNvPr id="20" name="footer-5">
            <a:extLst xmlns:a="http://schemas.openxmlformats.org/drawingml/2006/main">
              <a:ext uri="{FF2B5EF4-FFF2-40B4-BE49-F238E27FC236}">
                <a16:creationId xmlns:a16="http://schemas.microsoft.com/office/drawing/2014/main" id="{B836DE1A-369A-413B-AFDE-73128C290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352748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privacy-title">
            <a:extLst xmlns:a="http://schemas.openxmlformats.org/drawingml/2006/main">
              <a:ext uri="{FF2B5EF4-FFF2-40B4-BE49-F238E27FC236}">
                <a16:creationId xmlns:a16="http://schemas.microsoft.com/office/drawing/2014/main" id="{B99C6A9A-7312-4275-A37F-0C3D4FC66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Private by default. Flexible when needed.</a:t>
            </a:r>
          </a:p>
        </p:txBody>
      </p:sp>
      <p:sp>
        <p:nvSpPr>
          <p:cNvPr id="2" name="privacy-tr">
            <a:extLst xmlns:a="http://schemas.openxmlformats.org/drawingml/2006/main">
              <a:ext uri="{FF2B5EF4-FFF2-40B4-BE49-F238E27FC236}">
                <a16:creationId xmlns:a16="http://schemas.microsoft.com/office/drawing/2014/main" id="{D09E0CC0-2596-4FA6-AD7E-5B1F50100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096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Varsayılan olarak özel. Gerektiğinde esnek.</a:t>
            </a:r>
          </a:p>
        </p:txBody>
      </p:sp>
      <p:sp>
        <p:nvSpPr>
          <p:cNvPr id="3" name="privacy-ru">
            <a:extLst xmlns:a="http://schemas.openxmlformats.org/drawingml/2006/main">
              <a:ext uri="{FF2B5EF4-FFF2-40B4-BE49-F238E27FC236}">
                <a16:creationId xmlns:a16="http://schemas.microsoft.com/office/drawing/2014/main" id="{31A69B0A-4A76-4D5E-803A-99AC23E4F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335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Конфиденциальность по умолчанию. Гибкость при необходимости.</a:t>
            </a:r>
          </a:p>
        </p:txBody>
      </p:sp>
      <p:sp>
        <p:nvSpPr>
          <p:cNvPr id="4" name="privacy-divider">
            <a:extLst xmlns:a="http://schemas.openxmlformats.org/drawingml/2006/main">
              <a:ext uri="{FF2B5EF4-FFF2-40B4-BE49-F238E27FC236}">
                <a16:creationId xmlns:a16="http://schemas.microsoft.com/office/drawing/2014/main" id="{1A02C68C-9D7F-431A-90B9-9B9ADFEE5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19300"/>
            <a:ext cx="0" cy="3333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local-label">
            <a:extLst xmlns:a="http://schemas.openxmlformats.org/drawingml/2006/main">
              <a:ext uri="{FF2B5EF4-FFF2-40B4-BE49-F238E27FC236}">
                <a16:creationId xmlns:a16="http://schemas.microsoft.com/office/drawing/2014/main" id="{5867E621-9286-4D51-82B9-020545949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90750"/>
            <a:ext cx="447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LOCAL CORE</a:t>
            </a:r>
          </a:p>
        </p:txBody>
      </p:sp>
      <p:sp>
        <p:nvSpPr>
          <p:cNvPr id="6" name="local-head">
            <a:extLst xmlns:a="http://schemas.openxmlformats.org/drawingml/2006/main">
              <a:ext uri="{FF2B5EF4-FFF2-40B4-BE49-F238E27FC236}">
                <a16:creationId xmlns:a16="http://schemas.microsoft.com/office/drawing/2014/main" id="{AA7F1F9D-9BF8-4323-8E85-473EC7750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Study data stays on your machine</a:t>
            </a:r>
          </a:p>
        </p:txBody>
      </p:sp>
      <p:sp>
        <p:nvSpPr>
          <p:cNvPr id="7" name="local-copy">
            <a:extLst xmlns:a="http://schemas.openxmlformats.org/drawingml/2006/main">
              <a:ext uri="{FF2B5EF4-FFF2-40B4-BE49-F238E27FC236}">
                <a16:creationId xmlns:a16="http://schemas.microsoft.com/office/drawing/2014/main" id="{61288030-338D-4506-9834-7B3FF588F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38550"/>
            <a:ext cx="4762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İlerleme SQLite içinde yerel saklanır.</a:t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Sözlük ve AI öğretmen LM Studio ile yerelde çalışır.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Прогресс хранится локально в SQLite.</a:t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Словарь и ИИ работают локально через LM Studio.</a:t>
            </a:r>
          </a:p>
        </p:txBody>
      </p:sp>
      <p:sp>
        <p:nvSpPr>
          <p:cNvPr id="8" name="optional-label">
            <a:extLst xmlns:a="http://schemas.openxmlformats.org/drawingml/2006/main">
              <a:ext uri="{FF2B5EF4-FFF2-40B4-BE49-F238E27FC236}">
                <a16:creationId xmlns:a16="http://schemas.microsoft.com/office/drawing/2014/main" id="{C04FC616-E271-429D-8F02-858EE7D79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190750"/>
            <a:ext cx="447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OPTIONAL NETWORK</a:t>
            </a:r>
          </a:p>
        </p:txBody>
      </p:sp>
      <p:sp>
        <p:nvSpPr>
          <p:cNvPr id="9" name="optional-head">
            <a:extLst xmlns:a="http://schemas.openxmlformats.org/drawingml/2006/main">
              <a:ext uri="{FF2B5EF4-FFF2-40B4-BE49-F238E27FC236}">
                <a16:creationId xmlns:a16="http://schemas.microsoft.com/office/drawing/2014/main" id="{598593ED-D6FB-47A7-8328-831746036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6700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Online features activate only by choice</a:t>
            </a:r>
          </a:p>
        </p:txBody>
      </p:sp>
      <p:sp>
        <p:nvSpPr>
          <p:cNvPr id="10" name="optional-copy">
            <a:extLst xmlns:a="http://schemas.openxmlformats.org/drawingml/2006/main">
              <a:ext uri="{FF2B5EF4-FFF2-40B4-BE49-F238E27FC236}">
                <a16:creationId xmlns:a16="http://schemas.microsoft.com/office/drawing/2014/main" id="{40D89780-236C-4B7E-950B-4AE6E6C35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38550"/>
            <a:ext cx="4762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Kaynak indirmeleri ve alternatif AI ucu (NVIDIA NIM / özel OpenAI uyumlu URL) internet kullanır; anahtar Credential Manager'da.</a:t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Core learning remains available without them.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Загрузки и альтернативный ИИ-узел (NVIDIA NIM) используют интернет.</a:t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Основное обучение доступно и без них.</a:t>
            </a:r>
          </a:p>
        </p:txBody>
      </p:sp>
      <p:sp>
        <p:nvSpPr>
          <p:cNvPr id="11" name="footer-6">
            <a:extLst xmlns:a="http://schemas.openxmlformats.org/drawingml/2006/main">
              <a:ext uri="{FF2B5EF4-FFF2-40B4-BE49-F238E27FC236}">
                <a16:creationId xmlns:a16="http://schemas.microsoft.com/office/drawing/2014/main" id="{8BDAFE85-3CA5-40EF-957D-52AC81987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28547023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platform-title">
            <a:extLst xmlns:a="http://schemas.openxmlformats.org/drawingml/2006/main">
              <a:ext uri="{FF2B5EF4-FFF2-40B4-BE49-F238E27FC236}">
                <a16:creationId xmlns:a16="http://schemas.microsoft.com/office/drawing/2014/main" id="{0DFB9864-780F-4A88-938F-BC3D22B1F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952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Platforms &amp; Download</a:t>
            </a:r>
          </a:p>
        </p:txBody>
      </p:sp>
      <p:sp>
        <p:nvSpPr>
          <p:cNvPr id="2" name="platform-subtitle">
            <a:extLst xmlns:a="http://schemas.openxmlformats.org/drawingml/2006/main">
              <a:ext uri="{FF2B5EF4-FFF2-40B4-BE49-F238E27FC236}">
                <a16:creationId xmlns:a16="http://schemas.microsoft.com/office/drawing/2014/main" id="{945F6973-0631-4D0E-9FEF-ABBA17953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Platformlar &amp; İndirme  •  Платформы и загрузка</a:t>
            </a:r>
          </a:p>
        </p:txBody>
      </p:sp>
      <p:sp>
        <p:nvSpPr>
          <p:cNvPr id="3" name="platform-rule">
            <a:extLst xmlns:a="http://schemas.openxmlformats.org/drawingml/2006/main">
              <a:ext uri="{FF2B5EF4-FFF2-40B4-BE49-F238E27FC236}">
                <a16:creationId xmlns:a16="http://schemas.microsoft.com/office/drawing/2014/main" id="{D104AA2C-B079-4831-A839-30F751731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669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platform-label-0">
            <a:extLst xmlns:a="http://schemas.openxmlformats.org/drawingml/2006/main">
              <a:ext uri="{FF2B5EF4-FFF2-40B4-BE49-F238E27FC236}">
                <a16:creationId xmlns:a16="http://schemas.microsoft.com/office/drawing/2014/main" id="{8CAA0470-4832-45E8-B06B-FFBD9F720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098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TÜRKÇE</a:t>
            </a:r>
          </a:p>
        </p:txBody>
      </p:sp>
      <p:sp>
        <p:nvSpPr>
          <p:cNvPr id="5" name="platform-body-0">
            <a:extLst xmlns:a="http://schemas.openxmlformats.org/drawingml/2006/main">
              <a:ext uri="{FF2B5EF4-FFF2-40B4-BE49-F238E27FC236}">
                <a16:creationId xmlns:a16="http://schemas.microsoft.com/office/drawing/2014/main" id="{48C92DE6-B297-4E93-B019-FD64529E9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0"/>
            <a:ext cx="11391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Windows 10/11 (x64) + macOS (Apple Silicon) — İndirme: github.com/Azizsekerdil/RussianCourseAI/releases (v1.2.1) (özel repo)</a:t>
            </a:r>
          </a:p>
        </p:txBody>
      </p:sp>
      <p:sp>
        <p:nvSpPr>
          <p:cNvPr id="6" name="platform-label-1">
            <a:extLst xmlns:a="http://schemas.openxmlformats.org/drawingml/2006/main">
              <a:ext uri="{FF2B5EF4-FFF2-40B4-BE49-F238E27FC236}">
                <a16:creationId xmlns:a16="http://schemas.microsoft.com/office/drawing/2014/main" id="{5D8F1469-E14B-4A17-B9DE-B4F599A67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004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ENGLISH</a:t>
            </a:r>
          </a:p>
        </p:txBody>
      </p:sp>
      <p:sp>
        <p:nvSpPr>
          <p:cNvPr id="7" name="platform-body-1">
            <a:extLst xmlns:a="http://schemas.openxmlformats.org/drawingml/2006/main">
              <a:ext uri="{FF2B5EF4-FFF2-40B4-BE49-F238E27FC236}">
                <a16:creationId xmlns:a16="http://schemas.microsoft.com/office/drawing/2014/main" id="{548F48F5-231F-4B5C-A7BA-4CB668C5C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67100"/>
            <a:ext cx="11391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Windows 10/11 (x64) &amp; macOS (Apple Silicon) — Download: GitHub Releases (v1.2.1)</a:t>
            </a:r>
          </a:p>
        </p:txBody>
      </p:sp>
      <p:sp>
        <p:nvSpPr>
          <p:cNvPr id="8" name="platform-label-2">
            <a:extLst xmlns:a="http://schemas.openxmlformats.org/drawingml/2006/main">
              <a:ext uri="{FF2B5EF4-FFF2-40B4-BE49-F238E27FC236}">
                <a16:creationId xmlns:a16="http://schemas.microsoft.com/office/drawing/2014/main" id="{44F92A2B-9871-4223-9E78-DB7FA90DD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910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РУССКИЙ</a:t>
            </a:r>
          </a:p>
        </p:txBody>
      </p:sp>
      <p:sp>
        <p:nvSpPr>
          <p:cNvPr id="9" name="platform-body-2">
            <a:extLst xmlns:a="http://schemas.openxmlformats.org/drawingml/2006/main">
              <a:ext uri="{FF2B5EF4-FFF2-40B4-BE49-F238E27FC236}">
                <a16:creationId xmlns:a16="http://schemas.microsoft.com/office/drawing/2014/main" id="{2CA5D04B-5414-4CC3-97BA-135620513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57700"/>
            <a:ext cx="11391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Windows 10/11 (x64) и macOS (Apple Silicon) — Загрузка: GitHub Releases (v1.2.1)</a:t>
            </a:r>
          </a:p>
        </p:txBody>
      </p:sp>
      <p:sp>
        <p:nvSpPr>
          <p:cNvPr id="10" name="platform-footnote-rule">
            <a:extLst xmlns:a="http://schemas.openxmlformats.org/drawingml/2006/main">
              <a:ext uri="{FF2B5EF4-FFF2-40B4-BE49-F238E27FC236}">
                <a16:creationId xmlns:a16="http://schemas.microsoft.com/office/drawing/2014/main" id="{681C516A-273B-4640-8098-882EB9112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959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platform-footnote">
            <a:extLst xmlns:a="http://schemas.openxmlformats.org/drawingml/2006/main">
              <a:ext uri="{FF2B5EF4-FFF2-40B4-BE49-F238E27FC236}">
                <a16:creationId xmlns:a16="http://schemas.microsoft.com/office/drawing/2014/main" id="{200DB95D-3787-44AC-918C-06F8F98E7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86400"/>
            <a:ext cx="10668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Release v1.2.1 — iki paket: Windows zip + macOS zip. macOS paketi Apple Silicon (arm64) içindir ve notarize edilmemiştir; ilk açılışta sağ tık → Aç.</a:t>
            </a:r>
          </a:p>
          <a:p xmlns:a="http://schemas.openxmlformats.org/drawingml/2006/main">
            <a:pPr algn="l">
              <a:defRPr sz="11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Depo özel (private) — github.com/Azizsekerdil/RussianCourseAI bağlantısına yalnızca hesap sahibi erişebilir.</a:t>
            </a:r>
          </a:p>
        </p:txBody>
      </p:sp>
      <p:sp>
        <p:nvSpPr>
          <p:cNvPr id="12" name="footer-7">
            <a:extLst xmlns:a="http://schemas.openxmlformats.org/drawingml/2006/main">
              <a:ext uri="{FF2B5EF4-FFF2-40B4-BE49-F238E27FC236}">
                <a16:creationId xmlns:a16="http://schemas.microsoft.com/office/drawing/2014/main" id="{4E541EDE-3215-4973-8669-47DE7D305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48510762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9DAEA0CF-1A2F-4430-9A94-068D3407A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START YOUR NEXT SESSION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A2CA36C6-7FDE-43F8-B512-7BA00624F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57350"/>
            <a:ext cx="10001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Build a Russian routine</a:t>
            </a:r>
          </a:p>
          <a:p xmlns:a="http://schemas.openxmlformats.org/drawingml/2006/main">
            <a:pPr algn="l">
              <a:defRPr sz="46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that belongs to you.</a:t>
            </a:r>
          </a:p>
        </p:txBody>
      </p:sp>
      <p:sp>
        <p:nvSpPr>
          <p:cNvPr id="3" name="close-tr">
            <a:extLst xmlns:a="http://schemas.openxmlformats.org/drawingml/2006/main">
              <a:ext uri="{FF2B5EF4-FFF2-40B4-BE49-F238E27FC236}">
                <a16:creationId xmlns:a16="http://schemas.microsoft.com/office/drawing/2014/main" id="{D2F61D66-F402-4E7C-B67B-EB50F79E4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243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Size ait bir Rusça rutini oluşturun.</a:t>
            </a:r>
          </a:p>
        </p:txBody>
      </p:sp>
      <p:sp>
        <p:nvSpPr>
          <p:cNvPr id="4" name="close-ru">
            <a:extLst xmlns:a="http://schemas.openxmlformats.org/drawingml/2006/main">
              <a:ext uri="{FF2B5EF4-FFF2-40B4-BE49-F238E27FC236}">
                <a16:creationId xmlns:a16="http://schemas.microsoft.com/office/drawing/2014/main" id="{B9B9320B-3933-40BF-97D3-147DA9926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006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Создайте свой ритм изучения русского.</a:t>
            </a:r>
          </a:p>
        </p:txBody>
      </p:sp>
      <p:sp>
        <p:nvSpPr>
          <p:cNvPr id="5" name="close-rule">
            <a:extLst xmlns:a="http://schemas.openxmlformats.org/drawingml/2006/main">
              <a:ext uri="{FF2B5EF4-FFF2-40B4-BE49-F238E27FC236}">
                <a16:creationId xmlns:a16="http://schemas.microsoft.com/office/drawing/2014/main" id="{EC021CD1-13E4-4346-9989-4862DB706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close-action">
            <a:extLst xmlns:a="http://schemas.openxmlformats.org/drawingml/2006/main">
              <a:ext uri="{FF2B5EF4-FFF2-40B4-BE49-F238E27FC236}">
                <a16:creationId xmlns:a16="http://schemas.microsoft.com/office/drawing/2014/main" id="{BC06E648-9455-4104-9C39-B6372A0EE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483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INSTALL  •  LEARN  •  REVIEW</a:t>
            </a:r>
          </a:p>
        </p:txBody>
      </p:sp>
      <p:sp>
        <p:nvSpPr>
          <p:cNvPr id="7" name="close-meta">
            <a:extLst xmlns:a="http://schemas.openxmlformats.org/drawingml/2006/main">
              <a:ext uri="{FF2B5EF4-FFF2-40B4-BE49-F238E27FC236}">
                <a16:creationId xmlns:a16="http://schemas.microsoft.com/office/drawing/2014/main" id="{43DBF074-8E9C-43E2-B583-1CAF1DCBF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848350"/>
            <a:ext cx="512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Windows 10/11 + macOS  •  A1-C1  •  TR / EN / RU</a:t>
            </a:r>
          </a:p>
        </p:txBody>
      </p:sp>
      <p:sp>
        <p:nvSpPr>
          <p:cNvPr id="8" name="footer-8">
            <a:extLst xmlns:a="http://schemas.openxmlformats.org/drawingml/2006/main">
              <a:ext uri="{FF2B5EF4-FFF2-40B4-BE49-F238E27FC236}">
                <a16:creationId xmlns:a16="http://schemas.microsoft.com/office/drawing/2014/main" id="{B096B21C-174E-45A0-83DF-3A6B38AEE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96702997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2026-09-08T05:05:17.7140000Z</dcterms:created>
  <dcterms:modified xsi:type="dcterms:W3CDTF">2026-09-08T05:05:17.7140000Z</dcterms:modified>
</coreProperties>
</file>