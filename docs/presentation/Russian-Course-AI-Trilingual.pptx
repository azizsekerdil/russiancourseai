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e0cdbc3e2b14109" /><Relationship Type="http://schemas.openxmlformats.org/officeDocument/2006/relationships/extended-properties" Target="/docProps/app.xml" Id="R08baae0a49f541e8" /><Relationship Type="http://schemas.openxmlformats.org/officeDocument/2006/relationships/officeDocument" Target="/ppt/presentation.xml" Id="Rdf9ccef2fd8c4d2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da79ab14f914228"/>
  </p:sldMasterIdLst>
  <p:notesMasterIdLst>
    <p:notesMasterId xmlns:r="http://schemas.openxmlformats.org/officeDocument/2006/relationships" r:id="Rf24873dc6fa948f7"/>
  </p:notesMasterIdLst>
  <p:sldIdLst>
    <p:sldId xmlns:r="http://schemas.openxmlformats.org/officeDocument/2006/relationships" id="256" r:id="Rd93f991a168f42e7"/>
    <p:sldId xmlns:r="http://schemas.openxmlformats.org/officeDocument/2006/relationships" id="257" r:id="R6d9cb1e25ea843d5"/>
    <p:sldId xmlns:r="http://schemas.openxmlformats.org/officeDocument/2006/relationships" id="258" r:id="R53c71fc7e2ef4e33"/>
    <p:sldId xmlns:r="http://schemas.openxmlformats.org/officeDocument/2006/relationships" id="259" r:id="R15493d8497b44cc2"/>
    <p:sldId xmlns:r="http://schemas.openxmlformats.org/officeDocument/2006/relationships" id="260" r:id="R955c496f574e46cd"/>
    <p:sldId xmlns:r="http://schemas.openxmlformats.org/officeDocument/2006/relationships" id="261" r:id="R60770f7cd4ef41c7"/>
    <p:sldId xmlns:r="http://schemas.openxmlformats.org/officeDocument/2006/relationships" id="262" r:id="Rde9019b9ae9c4c50"/>
    <p:sldId xmlns:r="http://schemas.openxmlformats.org/officeDocument/2006/relationships" id="263" r:id="R5925c92a28e24c0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a0f962e3dd24fa8" /><Relationship Type="http://schemas.openxmlformats.org/officeDocument/2006/relationships/slideMaster" Target="/ppt/slideMasters/slideMaster1.xml" Id="Reda79ab14f914228" /><Relationship Type="http://schemas.openxmlformats.org/officeDocument/2006/relationships/notesMaster" Target="/ppt/notesMasters/notesMaster1.xml" Id="Rf24873dc6fa948f7" /><Relationship Type="http://schemas.openxmlformats.org/officeDocument/2006/relationships/presProps" Target="/ppt/presProps.xml" Id="R0ce10cd5204d4066" /><Relationship Type="http://schemas.openxmlformats.org/officeDocument/2006/relationships/tableStyles" Target="/ppt/tableStyles.xml" Id="R690e0e8a04474d8b" /><Relationship Type="http://schemas.openxmlformats.org/officeDocument/2006/relationships/slide" Target="/ppt/slides/slide1.xml" Id="Rd93f991a168f42e7" /><Relationship Type="http://schemas.openxmlformats.org/officeDocument/2006/relationships/slide" Target="/ppt/slides/slide2.xml" Id="R6d9cb1e25ea843d5" /><Relationship Type="http://schemas.openxmlformats.org/officeDocument/2006/relationships/slide" Target="/ppt/slides/slide3.xml" Id="R53c71fc7e2ef4e33" /><Relationship Type="http://schemas.openxmlformats.org/officeDocument/2006/relationships/slide" Target="/ppt/slides/slide4.xml" Id="R15493d8497b44cc2" /><Relationship Type="http://schemas.openxmlformats.org/officeDocument/2006/relationships/slide" Target="/ppt/slides/slide5.xml" Id="R955c496f574e46cd" /><Relationship Type="http://schemas.openxmlformats.org/officeDocument/2006/relationships/slide" Target="/ppt/slides/slide6.xml" Id="R60770f7cd4ef41c7" /><Relationship Type="http://schemas.openxmlformats.org/officeDocument/2006/relationships/slide" Target="/ppt/slides/slide7.xml" Id="Rde9019b9ae9c4c50" /><Relationship Type="http://schemas.openxmlformats.org/officeDocument/2006/relationships/slide" Target="/ppt/slides/slide8.xml" Id="R5925c92a28e24c0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5311e53ba2c41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8256c93e9be453e" /><Relationship Type="http://schemas.openxmlformats.org/officeDocument/2006/relationships/notesMaster" Target="/ppt/notesMasters/notesMaster1.xml" Id="R4f33cbf3038e40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e1992521224911" /><Relationship Type="http://schemas.openxmlformats.org/officeDocument/2006/relationships/notesMaster" Target="/ppt/notesMasters/notesMaster1.xml" Id="Rfb939fafcc2c49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a3e2dd813a34790" /><Relationship Type="http://schemas.openxmlformats.org/officeDocument/2006/relationships/notesMaster" Target="/ppt/notesMasters/notesMaster1.xml" Id="R6fc41154b44e477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7d5af4f3b2b48d3" /><Relationship Type="http://schemas.openxmlformats.org/officeDocument/2006/relationships/notesMaster" Target="/ppt/notesMasters/notesMaster1.xml" Id="R81efba753caf449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0ef59136aa0450b" /><Relationship Type="http://schemas.openxmlformats.org/officeDocument/2006/relationships/notesMaster" Target="/ppt/notesMasters/notesMaster1.xml" Id="R9ef5a9aef7c24e7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9098c76d5a74d0d" /><Relationship Type="http://schemas.openxmlformats.org/officeDocument/2006/relationships/notesMaster" Target="/ppt/notesMasters/notesMaster1.xml" Id="R793e3b9be24148e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c2a9e6d0aa8481d" /><Relationship Type="http://schemas.openxmlformats.org/officeDocument/2006/relationships/notesMaster" Target="/ppt/notesMasters/notesMaster1.xml" Id="R991e30cfa6b243b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61b64da07ac4e09" /><Relationship Type="http://schemas.openxmlformats.org/officeDocument/2006/relationships/notesMaster" Target="/ppt/notesMasters/notesMaster1.xml" Id="Ra75350009d3849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D:/Russian/README.md (product positioning and supported levels)</a:t>
            </a:r>
          </a:p>
          <a:p xmlns:a="http://schemas.openxmlformats.org/drawingml/2006/main">
            <a:r>
              <a:t>- D:/Russian/docs/presentation/assets/russian-course-ai-hero.png (AI-generated original cover visual)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D:/Russian/docs/presentation/assets/russian-course-ai-screenshot.png (user-supplied product screenshot)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D:/Russian/rca/i18n.py (Turkish, English, and Russian interface catalog)</a:t>
            </a:r>
          </a:p>
          <a:p xmlns:a="http://schemas.openxmlformats.org/drawingml/2006/main">
            <a:r>
              <a:t>- D:/Russian/Russian_Course_AI.pyw (instant and persistent language switching)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D:/Russian/rca/tabs/srs_tab.py (daily review workflow and five study modes)</a:t>
            </a:r>
          </a:p>
          <a:p xmlns:a="http://schemas.openxmlformats.org/drawingml/2006/main">
            <a:r>
              <a:t>- D:/Russian/Russian_Course_AI.pyw (learning, lab, read, practice, and system navigation groups)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D:/Russian/Russian_Course_AI.pyw (18 entries in TAB_SPECS)</a:t>
            </a:r>
          </a:p>
          <a:p xmlns:a="http://schemas.openxmlformats.org/drawingml/2006/main">
            <a:r>
              <a:t>- D:/Russian/rca/dictionary.py + rca/dict_data.py (bidirectional RU-EN dictionary, 1,360 built-in entries, OpenRussian layer)</a:t>
            </a:r>
          </a:p>
          <a:p xmlns:a="http://schemas.openxmlformats.org/drawingml/2006/main">
            <a:r>
              <a:t>- D:/Russian/README.md (feature descriptions)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D:/Russian/README.md (local LM Studio, optional NVIDIA NIM, and Resource Center network behavior)</a:t>
            </a:r>
          </a:p>
          <a:p xmlns:a="http://schemas.openxmlformats.org/drawingml/2006/main">
            <a:r>
              <a:t>- D:/Russian/rca/db.py (SQLite persistence)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https://github.com/Azizsekerdil/RussianCourseAI/releases/tag/v1.1.1 (v1.1.1 release with Windows and macOS zip assets; private repository)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D:/Russian/README.md (installation, learning levels, and feature overview)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b23dd60013457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50da4e65c9441d" /><Relationship Type="http://schemas.openxmlformats.org/officeDocument/2006/relationships/slideLayout" Target="/ppt/slideLayouts/slideLayout1.xml" Id="R66034c902d7d48d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034c902d7d48d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e3d98e20ef453e" /><Relationship Type="http://schemas.openxmlformats.org/officeDocument/2006/relationships/image" Target="/ppt/media/image.png" Id="R84add7693b704895" /><Relationship Type="http://schemas.openxmlformats.org/officeDocument/2006/relationships/notesSlide" Target="/ppt/notesSlides/notesSlide1.xml" Id="Rd721544e9cf948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4925b4027c42ee" /><Relationship Type="http://schemas.openxmlformats.org/officeDocument/2006/relationships/image" Target="/ppt/media/image2.png" Id="R04d2ddf91a9b427b" /><Relationship Type="http://schemas.openxmlformats.org/officeDocument/2006/relationships/notesSlide" Target="/ppt/notesSlides/notesSlide2.xml" Id="R545fb00e182b493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b4397986f44673" /><Relationship Type="http://schemas.openxmlformats.org/officeDocument/2006/relationships/notesSlide" Target="/ppt/notesSlides/notesSlide3.xml" Id="R2b167acc0d914fe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47887aa79d48ee" /><Relationship Type="http://schemas.openxmlformats.org/officeDocument/2006/relationships/notesSlide" Target="/ppt/notesSlides/notesSlide4.xml" Id="R042af7e2d717452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373662e1874e8c" /><Relationship Type="http://schemas.openxmlformats.org/officeDocument/2006/relationships/notesSlide" Target="/ppt/notesSlides/notesSlide5.xml" Id="R5c1b68a75dff4df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5cc7c7ef694609" /><Relationship Type="http://schemas.openxmlformats.org/officeDocument/2006/relationships/notesSlide" Target="/ppt/notesSlides/notesSlide6.xml" Id="R114cfadbb966459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c71034078f4a8e" /><Relationship Type="http://schemas.openxmlformats.org/officeDocument/2006/relationships/notesSlide" Target="/ppt/notesSlides/notesSlide7.xml" Id="Re2445c38d8af4e4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c0f537dc8c4df7" /><Relationship Type="http://schemas.openxmlformats.org/officeDocument/2006/relationships/notesSlide" Target="/ppt/notesSlides/notesSlide8.xml" Id="R444a7a8e49964c1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7B484243-915F-435A-BD71-0EC4F763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DESKTOP RUSSIAN LEARNING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412C208-2482-4C12-8F08-3214FA26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Russian</a:t>
            </a:r>
          </a:p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Course AI</a:t>
            </a:r>
          </a:p>
        </p:txBody>
      </p:sp>
      <p:sp>
        <p:nvSpPr>
          <p:cNvPr id="3" name="cover-rule">
            <a:extLst xmlns:a="http://schemas.openxmlformats.org/drawingml/2006/main">
              <a:ext uri="{FF2B5EF4-FFF2-40B4-BE49-F238E27FC236}">
                <a16:creationId xmlns:a16="http://schemas.microsoft.com/office/drawing/2014/main" id="{11ED2BBF-4845-432A-9CDC-4FE75379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121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D8DFF"/>
            </a:solidFill>
            <a:prstDash val="solid"/>
          </a:ln>
        </p:spPr>
      </p:sp>
      <p:sp>
        <p:nvSpPr>
          <p:cNvPr id="4" name="cover-tr">
            <a:extLst xmlns:a="http://schemas.openxmlformats.org/drawingml/2006/main">
              <a:ext uri="{FF2B5EF4-FFF2-40B4-BE49-F238E27FC236}">
                <a16:creationId xmlns:a16="http://schemas.microsoft.com/office/drawing/2014/main" id="{B92B846D-938A-4BAC-BFD6-61B2CB2E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Rusçayı tek bir odaklı uygulamada öğrenin.</a:t>
            </a:r>
          </a:p>
        </p:txBody>
      </p:sp>
      <p:sp>
        <p:nvSpPr>
          <p:cNvPr id="5" name="cover-en">
            <a:extLst xmlns:a="http://schemas.openxmlformats.org/drawingml/2006/main">
              <a:ext uri="{FF2B5EF4-FFF2-40B4-BE49-F238E27FC236}">
                <a16:creationId xmlns:a16="http://schemas.microsoft.com/office/drawing/2014/main" id="{1F1E5AF4-2736-486D-9459-A174DB40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957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Learn Russian in one focused desktop app.</a:t>
            </a:r>
          </a:p>
        </p:txBody>
      </p:sp>
      <p:sp>
        <p:nvSpPr>
          <p:cNvPr id="6" name="cover-ru">
            <a:extLst xmlns:a="http://schemas.openxmlformats.org/drawingml/2006/main">
              <a:ext uri="{FF2B5EF4-FFF2-40B4-BE49-F238E27FC236}">
                <a16:creationId xmlns:a16="http://schemas.microsoft.com/office/drawing/2014/main" id="{D7D5E777-A141-427A-8437-D437AACDB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481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Изучайте русский в одном приложении.</a:t>
            </a:r>
          </a:p>
        </p:txBody>
      </p:sp>
      <p:sp>
        <p:nvSpPr>
          <p:cNvPr id="7" name="cover-meta">
            <a:extLst xmlns:a="http://schemas.openxmlformats.org/drawingml/2006/main">
              <a:ext uri="{FF2B5EF4-FFF2-40B4-BE49-F238E27FC236}">
                <a16:creationId xmlns:a16="http://schemas.microsoft.com/office/drawing/2014/main" id="{0F6B2864-94AF-47DC-8912-2AACAD1E2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Windows 10/11 (x64) + macOS (Apple Silicon)  •  A1-C1  •  TR / EN / RU</a:t>
            </a:r>
          </a:p>
        </p:txBody>
      </p:sp>
      <p:sp>
        <p:nvSpPr>
          <p:cNvPr id="8" name="hero-backing">
            <a:extLst xmlns:a="http://schemas.openxmlformats.org/drawingml/2006/main">
              <a:ext uri="{FF2B5EF4-FFF2-40B4-BE49-F238E27FC236}">
                <a16:creationId xmlns:a16="http://schemas.microsoft.com/office/drawing/2014/main" id="{EB6F3991-FADB-4318-B941-8847A23E7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0F152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add7693b704895"/>
          <a:srcRect xmlns:a="http://schemas.openxmlformats.org/drawingml/2006/main" l="510" t="0" r="5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oundRect">
            <a:avLst>
              <a:gd name="adj" fmla="val 3093"/>
            </a:avLst>
          </a:prstGeom>
        </p:spPr>
      </p:pic>
      <p:sp>
        <p:nvSpPr>
          <p:cNvPr id="10" name="footer-1">
            <a:extLst xmlns:a="http://schemas.openxmlformats.org/drawingml/2006/main">
              <a:ext uri="{FF2B5EF4-FFF2-40B4-BE49-F238E27FC236}">
                <a16:creationId xmlns:a16="http://schemas.microsoft.com/office/drawing/2014/main" id="{5A1FC389-17D8-4F70-9314-EDCD8FAEA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618796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F15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creen-title">
            <a:extLst xmlns:a="http://schemas.openxmlformats.org/drawingml/2006/main">
              <a:ext uri="{FF2B5EF4-FFF2-40B4-BE49-F238E27FC236}">
                <a16:creationId xmlns:a16="http://schemas.microsoft.com/office/drawing/2014/main" id="{45FA0996-2771-4163-9B1A-2A3DDF873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interface. Every practice mode.</a:t>
            </a:r>
          </a:p>
        </p:txBody>
      </p:sp>
      <p:sp>
        <p:nvSpPr>
          <p:cNvPr id="2" name="screen-subtitle">
            <a:extLst xmlns:a="http://schemas.openxmlformats.org/drawingml/2006/main">
              <a:ext uri="{FF2B5EF4-FFF2-40B4-BE49-F238E27FC236}">
                <a16:creationId xmlns:a16="http://schemas.microsoft.com/office/drawing/2014/main" id="{034D095F-3587-4E22-9CF9-B6609CE11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EB8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EB8CA"/>
                </a:solidFill>
                <a:latin typeface="Arial"/>
                <a:ea typeface="Arial"/>
                <a:cs typeface="Arial"/>
              </a:rPr>
              <a:t>Tek arayüz. Tüm çalışma biçimleri.  •  Один интерфейс. Все форматы практики.</a:t>
            </a:r>
          </a:p>
        </p:txBody>
      </p:sp>
      <p:sp>
        <p:nvSpPr>
          <p:cNvPr id="3" name="screen-frame">
            <a:extLst xmlns:a="http://schemas.openxmlformats.org/drawingml/2006/main">
              <a:ext uri="{FF2B5EF4-FFF2-40B4-BE49-F238E27FC236}">
                <a16:creationId xmlns:a16="http://schemas.microsoft.com/office/drawing/2014/main" id="{4DEF8F76-6592-4360-80A8-4B9656B24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85900"/>
            <a:ext cx="1104900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171D2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d2ddf91a9b427b"/>
          <a:stretch xmlns:a="http://schemas.openxmlformats.org/drawingml/2006/main"/>
        </p:blipFill>
        <p:spPr>
          <a:xfrm xmlns:a="http://schemas.openxmlformats.org/drawingml/2006/main">
            <a:off x="2728015" y="1600200"/>
            <a:ext cx="6735971" cy="4533900"/>
          </a:xfrm>
          <a:prstGeom xmlns:a="http://schemas.openxmlformats.org/drawingml/2006/main" prst="roundRect">
            <a:avLst>
              <a:gd name="adj" fmla="val 2521"/>
            </a:avLst>
          </a:prstGeom>
        </p:spPr>
      </p:pic>
      <p:sp>
        <p:nvSpPr>
          <p:cNvPr id="5" name="screen-footer">
            <a:extLst xmlns:a="http://schemas.openxmlformats.org/drawingml/2006/main">
              <a:ext uri="{FF2B5EF4-FFF2-40B4-BE49-F238E27FC236}">
                <a16:creationId xmlns:a16="http://schemas.microsoft.com/office/drawing/2014/main" id="{4546B1AA-8FC1-4522-A440-A55A774A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AEB8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EB8C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702251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language-title">
            <a:extLst xmlns:a="http://schemas.openxmlformats.org/drawingml/2006/main">
              <a:ext uri="{FF2B5EF4-FFF2-40B4-BE49-F238E27FC236}">
                <a16:creationId xmlns:a16="http://schemas.microsoft.com/office/drawing/2014/main" id="{21DB0E8B-DFC6-44FC-8254-8623D2ACC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895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One interface, three languages</a:t>
            </a:r>
          </a:p>
        </p:txBody>
      </p:sp>
      <p:sp>
        <p:nvSpPr>
          <p:cNvPr id="2" name="language-subtitle">
            <a:extLst xmlns:a="http://schemas.openxmlformats.org/drawingml/2006/main">
              <a:ext uri="{FF2B5EF4-FFF2-40B4-BE49-F238E27FC236}">
                <a16:creationId xmlns:a16="http://schemas.microsoft.com/office/drawing/2014/main" id="{2F99150F-DFE0-4237-BBD0-7191D4FC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Dil seçimi anında uygulanır ve sonraki açılış için kaydedilir.</a:t>
            </a:r>
          </a:p>
        </p:txBody>
      </p:sp>
      <p:sp>
        <p:nvSpPr>
          <p:cNvPr id="3" name="language-rule">
            <a:extLst xmlns:a="http://schemas.openxmlformats.org/drawingml/2006/main">
              <a:ext uri="{FF2B5EF4-FFF2-40B4-BE49-F238E27FC236}">
                <a16:creationId xmlns:a16="http://schemas.microsoft.com/office/drawing/2014/main" id="{4047760F-2F60-4E2B-B73A-5DCCE531C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66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language-label-0">
            <a:extLst xmlns:a="http://schemas.openxmlformats.org/drawingml/2006/main">
              <a:ext uri="{FF2B5EF4-FFF2-40B4-BE49-F238E27FC236}">
                <a16:creationId xmlns:a16="http://schemas.microsoft.com/office/drawing/2014/main" id="{1CF23E22-1691-4E2D-A60F-16E813B7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5" name="language-head-0">
            <a:extLst xmlns:a="http://schemas.openxmlformats.org/drawingml/2006/main">
              <a:ext uri="{FF2B5EF4-FFF2-40B4-BE49-F238E27FC236}">
                <a16:creationId xmlns:a16="http://schemas.microsoft.com/office/drawing/2014/main" id="{D8D87F94-FAB8-4321-AE49-21BC55E4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Öğrenmeye odaklanın</a:t>
            </a:r>
          </a:p>
        </p:txBody>
      </p:sp>
      <p:sp>
        <p:nvSpPr>
          <p:cNvPr id="6" name="language-body-0">
            <a:extLst xmlns:a="http://schemas.openxmlformats.org/drawingml/2006/main">
              <a:ext uri="{FF2B5EF4-FFF2-40B4-BE49-F238E27FC236}">
                <a16:creationId xmlns:a16="http://schemas.microsoft.com/office/drawing/2014/main" id="{EB6A5E94-1089-4CF7-AA44-5608CE4E5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Menüler, çalışma akışı ve AI yönergeleri seçtiğiniz dile uyum sağlar.</a:t>
            </a:r>
          </a:p>
        </p:txBody>
      </p:sp>
      <p:sp>
        <p:nvSpPr>
          <p:cNvPr id="7" name="language-accent-0">
            <a:extLst xmlns:a="http://schemas.openxmlformats.org/drawingml/2006/main">
              <a:ext uri="{FF2B5EF4-FFF2-40B4-BE49-F238E27FC236}">
                <a16:creationId xmlns:a16="http://schemas.microsoft.com/office/drawing/2014/main" id="{92336671-0E84-430B-B2E0-73BB1C94C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0131A"/>
            </a:solidFill>
            <a:prstDash val="solid"/>
          </a:ln>
        </p:spPr>
      </p:sp>
      <p:sp>
        <p:nvSpPr>
          <p:cNvPr id="8" name="language-label-1">
            <a:extLst xmlns:a="http://schemas.openxmlformats.org/drawingml/2006/main">
              <a:ext uri="{FF2B5EF4-FFF2-40B4-BE49-F238E27FC236}">
                <a16:creationId xmlns:a16="http://schemas.microsoft.com/office/drawing/2014/main" id="{F70783C6-EF74-45DF-8011-9A1E20C56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9" name="language-head-1">
            <a:extLst xmlns:a="http://schemas.openxmlformats.org/drawingml/2006/main">
              <a:ext uri="{FF2B5EF4-FFF2-40B4-BE49-F238E27FC236}">
                <a16:creationId xmlns:a16="http://schemas.microsoft.com/office/drawing/2014/main" id="{EB152478-2682-413E-80AA-3981FDAC0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Learn without friction</a:t>
            </a:r>
          </a:p>
        </p:txBody>
      </p:sp>
      <p:sp>
        <p:nvSpPr>
          <p:cNvPr id="10" name="language-body-1">
            <a:extLst xmlns:a="http://schemas.openxmlformats.org/drawingml/2006/main">
              <a:ext uri="{FF2B5EF4-FFF2-40B4-BE49-F238E27FC236}">
                <a16:creationId xmlns:a16="http://schemas.microsoft.com/office/drawing/2014/main" id="{8A1F8569-8851-49EE-BCF9-326D77E8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D8DFF"/>
                </a:solidFill>
                <a:latin typeface="Arial"/>
                <a:ea typeface="Arial"/>
                <a:cs typeface="Arial"/>
              </a:rPr>
              <a:t>Navigation, study flows, and AI guidance follow your selected language.</a:t>
            </a:r>
          </a:p>
        </p:txBody>
      </p:sp>
      <p:sp>
        <p:nvSpPr>
          <p:cNvPr id="11" name="language-accent-1">
            <a:extLst xmlns:a="http://schemas.openxmlformats.org/drawingml/2006/main">
              <a:ext uri="{FF2B5EF4-FFF2-40B4-BE49-F238E27FC236}">
                <a16:creationId xmlns:a16="http://schemas.microsoft.com/office/drawing/2014/main" id="{D7C5A7FF-408C-4F72-8DC1-7B4C3989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D8DFF"/>
            </a:solidFill>
            <a:prstDash val="solid"/>
          </a:ln>
        </p:spPr>
      </p:sp>
      <p:sp>
        <p:nvSpPr>
          <p:cNvPr id="12" name="language-label-2">
            <a:extLst xmlns:a="http://schemas.openxmlformats.org/drawingml/2006/main">
              <a:ext uri="{FF2B5EF4-FFF2-40B4-BE49-F238E27FC236}">
                <a16:creationId xmlns:a16="http://schemas.microsoft.com/office/drawing/2014/main" id="{32E647E5-ED17-49F5-8A92-6307784D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РУССКИЙ</a:t>
            </a:r>
          </a:p>
        </p:txBody>
      </p:sp>
      <p:sp>
        <p:nvSpPr>
          <p:cNvPr id="13" name="language-head-2">
            <a:extLst xmlns:a="http://schemas.openxmlformats.org/drawingml/2006/main">
              <a:ext uri="{FF2B5EF4-FFF2-40B4-BE49-F238E27FC236}">
                <a16:creationId xmlns:a16="http://schemas.microsoft.com/office/drawing/2014/main" id="{B8B69954-132E-44D3-BE0D-3750BB06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Учитесь без барьеров</a:t>
            </a:r>
          </a:p>
        </p:txBody>
      </p:sp>
      <p:sp>
        <p:nvSpPr>
          <p:cNvPr id="14" name="language-body-2">
            <a:extLst xmlns:a="http://schemas.openxmlformats.org/drawingml/2006/main">
              <a:ext uri="{FF2B5EF4-FFF2-40B4-BE49-F238E27FC236}">
                <a16:creationId xmlns:a16="http://schemas.microsoft.com/office/drawing/2014/main" id="{4A3091ED-B4A4-469C-8B2E-93A327275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Навигация, упражнения и инструкции для ИИ работают на выбранном языке.</a:t>
            </a:r>
          </a:p>
        </p:txBody>
      </p:sp>
      <p:sp>
        <p:nvSpPr>
          <p:cNvPr id="15" name="language-accent-2">
            <a:extLst xmlns:a="http://schemas.openxmlformats.org/drawingml/2006/main">
              <a:ext uri="{FF2B5EF4-FFF2-40B4-BE49-F238E27FC236}">
                <a16:creationId xmlns:a16="http://schemas.microsoft.com/office/drawing/2014/main" id="{21072B6D-566E-4207-801B-5E16E2BB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F6675"/>
            </a:solidFill>
            <a:prstDash val="solid"/>
          </a:ln>
        </p:spPr>
      </p:sp>
      <p:sp>
        <p:nvSpPr>
          <p:cNvPr id="16" name="footer-3">
            <a:extLst xmlns:a="http://schemas.openxmlformats.org/drawingml/2006/main">
              <a:ext uri="{FF2B5EF4-FFF2-40B4-BE49-F238E27FC236}">
                <a16:creationId xmlns:a16="http://schemas.microsoft.com/office/drawing/2014/main" id="{F25E3866-134E-4DCE-B4C3-4E1D86164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063665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loop-title">
            <a:extLst xmlns:a="http://schemas.openxmlformats.org/drawingml/2006/main">
              <a:ext uri="{FF2B5EF4-FFF2-40B4-BE49-F238E27FC236}">
                <a16:creationId xmlns:a16="http://schemas.microsoft.com/office/drawing/2014/main" id="{01AC9D47-F4D2-41E7-99DE-C4BFF210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A daily loop that keeps momentum</a:t>
            </a:r>
          </a:p>
        </p:txBody>
      </p:sp>
      <p:sp>
        <p:nvSpPr>
          <p:cNvPr id="2" name="loop-subtitle">
            <a:extLst xmlns:a="http://schemas.openxmlformats.org/drawingml/2006/main">
              <a:ext uri="{FF2B5EF4-FFF2-40B4-BE49-F238E27FC236}">
                <a16:creationId xmlns:a16="http://schemas.microsoft.com/office/drawing/2014/main" id="{967BCBA0-89DA-4D4B-808D-F6ED8AFC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Her gün küçük bir döngü.  •  A small loop every day.  •  Небольшой цикл каждый день.</a:t>
            </a:r>
          </a:p>
        </p:txBody>
      </p:sp>
      <p:sp>
        <p:nvSpPr>
          <p:cNvPr id="3" name="loop-track">
            <a:extLst xmlns:a="http://schemas.openxmlformats.org/drawingml/2006/main">
              <a:ext uri="{FF2B5EF4-FFF2-40B4-BE49-F238E27FC236}">
                <a16:creationId xmlns:a16="http://schemas.microsoft.com/office/drawing/2014/main" id="{307606FB-907C-4292-AB91-BA4A114CF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43250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4" name="loop-node-0">
            <a:extLst xmlns:a="http://schemas.openxmlformats.org/drawingml/2006/main">
              <a:ext uri="{FF2B5EF4-FFF2-40B4-BE49-F238E27FC236}">
                <a16:creationId xmlns:a16="http://schemas.microsoft.com/office/drawing/2014/main" id="{BA47268D-1E9A-4E32-88C0-69A9F33C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3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loop-number-0">
            <a:extLst xmlns:a="http://schemas.openxmlformats.org/drawingml/2006/main">
              <a:ext uri="{FF2B5EF4-FFF2-40B4-BE49-F238E27FC236}">
                <a16:creationId xmlns:a16="http://schemas.microsoft.com/office/drawing/2014/main" id="{E99C453C-0766-4170-9FDF-87100FC2A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loop-en-0">
            <a:extLst xmlns:a="http://schemas.openxmlformats.org/drawingml/2006/main">
              <a:ext uri="{FF2B5EF4-FFF2-40B4-BE49-F238E27FC236}">
                <a16:creationId xmlns:a16="http://schemas.microsoft.com/office/drawing/2014/main" id="{F6867109-8E0B-499A-BB8C-CA38649FD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7" name="loop-tr-0">
            <a:extLst xmlns:a="http://schemas.openxmlformats.org/drawingml/2006/main">
              <a:ext uri="{FF2B5EF4-FFF2-40B4-BE49-F238E27FC236}">
                <a16:creationId xmlns:a16="http://schemas.microsoft.com/office/drawing/2014/main" id="{DE820077-4805-4B9D-B44F-A19E7E41B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ÖĞREN</a:t>
            </a:r>
          </a:p>
        </p:txBody>
      </p:sp>
      <p:sp>
        <p:nvSpPr>
          <p:cNvPr id="8" name="loop-ru-0">
            <a:extLst xmlns:a="http://schemas.openxmlformats.org/drawingml/2006/main">
              <a:ext uri="{FF2B5EF4-FFF2-40B4-BE49-F238E27FC236}">
                <a16:creationId xmlns:a16="http://schemas.microsoft.com/office/drawing/2014/main" id="{7F00DB55-1582-406B-BF61-DCA52F523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УЧИТЬ</a:t>
            </a:r>
          </a:p>
        </p:txBody>
      </p:sp>
      <p:sp>
        <p:nvSpPr>
          <p:cNvPr id="9" name="loop-detail-0">
            <a:extLst xmlns:a="http://schemas.openxmlformats.org/drawingml/2006/main">
              <a:ext uri="{FF2B5EF4-FFF2-40B4-BE49-F238E27FC236}">
                <a16:creationId xmlns:a16="http://schemas.microsoft.com/office/drawing/2014/main" id="{4C52280D-656A-40F4-A268-65606E018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Words • Dictionary • Cyrillic • Grammar</a:t>
            </a:r>
          </a:p>
        </p:txBody>
      </p:sp>
      <p:sp>
        <p:nvSpPr>
          <p:cNvPr id="10" name="loop-node-1">
            <a:extLst xmlns:a="http://schemas.openxmlformats.org/drawingml/2006/main">
              <a:ext uri="{FF2B5EF4-FFF2-40B4-BE49-F238E27FC236}">
                <a16:creationId xmlns:a16="http://schemas.microsoft.com/office/drawing/2014/main" id="{B447A14A-FE8D-402F-B0FF-8A214EB1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loop-number-1">
            <a:extLst xmlns:a="http://schemas.openxmlformats.org/drawingml/2006/main">
              <a:ext uri="{FF2B5EF4-FFF2-40B4-BE49-F238E27FC236}">
                <a16:creationId xmlns:a16="http://schemas.microsoft.com/office/drawing/2014/main" id="{2BBA6AF3-DD23-43E3-9C07-8DBE4631A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loop-en-1">
            <a:extLst xmlns:a="http://schemas.openxmlformats.org/drawingml/2006/main">
              <a:ext uri="{FF2B5EF4-FFF2-40B4-BE49-F238E27FC236}">
                <a16:creationId xmlns:a16="http://schemas.microsoft.com/office/drawing/2014/main" id="{7B6CFDA7-8C89-48E7-8C89-004FFBF1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PRACTICE</a:t>
            </a:r>
          </a:p>
        </p:txBody>
      </p:sp>
      <p:sp>
        <p:nvSpPr>
          <p:cNvPr id="13" name="loop-tr-1">
            <a:extLst xmlns:a="http://schemas.openxmlformats.org/drawingml/2006/main">
              <a:ext uri="{FF2B5EF4-FFF2-40B4-BE49-F238E27FC236}">
                <a16:creationId xmlns:a16="http://schemas.microsoft.com/office/drawing/2014/main" id="{911ACBF7-D67B-4454-BD01-02C07853B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PRATİK</a:t>
            </a:r>
          </a:p>
        </p:txBody>
      </p:sp>
      <p:sp>
        <p:nvSpPr>
          <p:cNvPr id="14" name="loop-ru-1">
            <a:extLst xmlns:a="http://schemas.openxmlformats.org/drawingml/2006/main">
              <a:ext uri="{FF2B5EF4-FFF2-40B4-BE49-F238E27FC236}">
                <a16:creationId xmlns:a16="http://schemas.microsoft.com/office/drawing/2014/main" id="{501B0079-5519-4C33-9EA4-D1781E111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ПРАКТИКА</a:t>
            </a:r>
          </a:p>
        </p:txBody>
      </p:sp>
      <p:sp>
        <p:nvSpPr>
          <p:cNvPr id="15" name="loop-detail-1">
            <a:extLst xmlns:a="http://schemas.openxmlformats.org/drawingml/2006/main">
              <a:ext uri="{FF2B5EF4-FFF2-40B4-BE49-F238E27FC236}">
                <a16:creationId xmlns:a16="http://schemas.microsoft.com/office/drawing/2014/main" id="{D8566B42-4652-4FBA-A0AC-F766F2BC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Speaking • Writing • Pronunciation</a:t>
            </a:r>
          </a:p>
        </p:txBody>
      </p:sp>
      <p:sp>
        <p:nvSpPr>
          <p:cNvPr id="16" name="loop-node-2">
            <a:extLst xmlns:a="http://schemas.openxmlformats.org/drawingml/2006/main">
              <a:ext uri="{FF2B5EF4-FFF2-40B4-BE49-F238E27FC236}">
                <a16:creationId xmlns:a16="http://schemas.microsoft.com/office/drawing/2014/main" id="{6503945E-A874-4D5A-A08B-89D64729E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3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loop-number-2">
            <a:extLst xmlns:a="http://schemas.openxmlformats.org/drawingml/2006/main">
              <a:ext uri="{FF2B5EF4-FFF2-40B4-BE49-F238E27FC236}">
                <a16:creationId xmlns:a16="http://schemas.microsoft.com/office/drawing/2014/main" id="{F9DB40B7-8229-447D-B6E6-23CD889D5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loop-en-2">
            <a:extLst xmlns:a="http://schemas.openxmlformats.org/drawingml/2006/main">
              <a:ext uri="{FF2B5EF4-FFF2-40B4-BE49-F238E27FC236}">
                <a16:creationId xmlns:a16="http://schemas.microsoft.com/office/drawing/2014/main" id="{96788C95-4B8D-42A7-BE25-8FAC5560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19" name="loop-tr-2">
            <a:extLst xmlns:a="http://schemas.openxmlformats.org/drawingml/2006/main">
              <a:ext uri="{FF2B5EF4-FFF2-40B4-BE49-F238E27FC236}">
                <a16:creationId xmlns:a16="http://schemas.microsoft.com/office/drawing/2014/main" id="{DB719133-8460-4614-AB80-90DB8133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TEKRAR</a:t>
            </a:r>
          </a:p>
        </p:txBody>
      </p:sp>
      <p:sp>
        <p:nvSpPr>
          <p:cNvPr id="20" name="loop-ru-2">
            <a:extLst xmlns:a="http://schemas.openxmlformats.org/drawingml/2006/main">
              <a:ext uri="{FF2B5EF4-FFF2-40B4-BE49-F238E27FC236}">
                <a16:creationId xmlns:a16="http://schemas.microsoft.com/office/drawing/2014/main" id="{AA1EA8CB-6111-4766-B94E-AC6A4D65E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ПОВТОРЕНИЕ</a:t>
            </a:r>
          </a:p>
        </p:txBody>
      </p:sp>
      <p:sp>
        <p:nvSpPr>
          <p:cNvPr id="21" name="loop-detail-2">
            <a:extLst xmlns:a="http://schemas.openxmlformats.org/drawingml/2006/main">
              <a:ext uri="{FF2B5EF4-FFF2-40B4-BE49-F238E27FC236}">
                <a16:creationId xmlns:a16="http://schemas.microsoft.com/office/drawing/2014/main" id="{CDA2B07A-9381-45E3-AF86-5A84A2EC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Spaced review • Exams • Progress</a:t>
            </a:r>
          </a:p>
        </p:txBody>
      </p:sp>
      <p:sp>
        <p:nvSpPr>
          <p:cNvPr id="22" name="footer-4">
            <a:extLst xmlns:a="http://schemas.openxmlformats.org/drawingml/2006/main">
              <a:ext uri="{FF2B5EF4-FFF2-40B4-BE49-F238E27FC236}">
                <a16:creationId xmlns:a16="http://schemas.microsoft.com/office/drawing/2014/main" id="{6DC85644-0A68-42F4-B7F4-579AAE23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953900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DEF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readth-title">
            <a:extLst xmlns:a="http://schemas.openxmlformats.org/drawingml/2006/main">
              <a:ext uri="{FF2B5EF4-FFF2-40B4-BE49-F238E27FC236}">
                <a16:creationId xmlns:a16="http://schemas.microsoft.com/office/drawing/2014/main" id="{94C2DFAD-9591-4D76-9035-F61B34B7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More than flashcards</a:t>
            </a:r>
          </a:p>
        </p:txBody>
      </p:sp>
      <p:sp>
        <p:nvSpPr>
          <p:cNvPr id="2" name="breadth-triple">
            <a:extLst xmlns:a="http://schemas.openxmlformats.org/drawingml/2006/main">
              <a:ext uri="{FF2B5EF4-FFF2-40B4-BE49-F238E27FC236}">
                <a16:creationId xmlns:a16="http://schemas.microsoft.com/office/drawing/2014/main" id="{CE217B71-8593-4D93-A835-C5B622B5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28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Kelime kartlarından fazlası  •  Больше, чем карточки</a:t>
            </a:r>
          </a:p>
        </p:txBody>
      </p:sp>
      <p:sp>
        <p:nvSpPr>
          <p:cNvPr id="3" name="breadth-number">
            <a:extLst xmlns:a="http://schemas.openxmlformats.org/drawingml/2006/main">
              <a:ext uri="{FF2B5EF4-FFF2-40B4-BE49-F238E27FC236}">
                <a16:creationId xmlns:a16="http://schemas.microsoft.com/office/drawing/2014/main" id="{063DC605-53A9-422F-BC1E-5BED18E1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962150"/>
            <a:ext cx="342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breadth-caption">
            <a:extLst xmlns:a="http://schemas.openxmlformats.org/drawingml/2006/main">
              <a:ext uri="{FF2B5EF4-FFF2-40B4-BE49-F238E27FC236}">
                <a16:creationId xmlns:a16="http://schemas.microsoft.com/office/drawing/2014/main" id="{EC321C9B-6632-4F4A-BC0A-6A056B7A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48150"/>
            <a:ext cx="4000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focused workspaces</a:t>
            </a:r>
          </a:p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odaklı çalışma alanı</a:t>
            </a:r>
          </a:p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специализированных разделов</a:t>
            </a:r>
          </a:p>
        </p:txBody>
      </p:sp>
      <p:sp>
        <p:nvSpPr>
          <p:cNvPr id="5" name="breadth-divider">
            <a:extLst xmlns:a="http://schemas.openxmlformats.org/drawingml/2006/main">
              <a:ext uri="{FF2B5EF4-FFF2-40B4-BE49-F238E27FC236}">
                <a16:creationId xmlns:a16="http://schemas.microsoft.com/office/drawing/2014/main" id="{B93E60EB-6378-4184-8089-F5395A09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90700"/>
            <a:ext cx="0" cy="394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breadth-item-rule-0">
            <a:extLst xmlns:a="http://schemas.openxmlformats.org/drawingml/2006/main">
              <a:ext uri="{FF2B5EF4-FFF2-40B4-BE49-F238E27FC236}">
                <a16:creationId xmlns:a16="http://schemas.microsoft.com/office/drawing/2014/main" id="{E8236F23-260F-4105-83F9-21D695226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479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breadth-item-0">
            <a:extLst xmlns:a="http://schemas.openxmlformats.org/drawingml/2006/main">
              <a:ext uri="{FF2B5EF4-FFF2-40B4-BE49-F238E27FC236}">
                <a16:creationId xmlns:a16="http://schemas.microsoft.com/office/drawing/2014/main" id="{4D9253BD-40FD-41BA-95EF-B8C99024A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9240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RU-EN dictionary · Sözlük · Словарь RU-EN</a:t>
            </a:r>
          </a:p>
        </p:txBody>
      </p:sp>
      <p:sp>
        <p:nvSpPr>
          <p:cNvPr id="8" name="breadth-item-rule-1">
            <a:extLst xmlns:a="http://schemas.openxmlformats.org/drawingml/2006/main">
              <a:ext uri="{FF2B5EF4-FFF2-40B4-BE49-F238E27FC236}">
                <a16:creationId xmlns:a16="http://schemas.microsoft.com/office/drawing/2014/main" id="{653592D3-EA43-44E7-B4BC-D41A2EE2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003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breadth-item-1">
            <a:extLst xmlns:a="http://schemas.openxmlformats.org/drawingml/2006/main">
              <a:ext uri="{FF2B5EF4-FFF2-40B4-BE49-F238E27FC236}">
                <a16:creationId xmlns:a16="http://schemas.microsoft.com/office/drawing/2014/main" id="{342CDBFE-7E7A-4EF8-AA28-7C97CA827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4765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Word bank &amp; grammar · Kelime bankası · Грамматика</a:t>
            </a:r>
          </a:p>
        </p:txBody>
      </p:sp>
      <p:sp>
        <p:nvSpPr>
          <p:cNvPr id="10" name="breadth-item-rule-2">
            <a:extLst xmlns:a="http://schemas.openxmlformats.org/drawingml/2006/main">
              <a:ext uri="{FF2B5EF4-FFF2-40B4-BE49-F238E27FC236}">
                <a16:creationId xmlns:a16="http://schemas.microsoft.com/office/drawing/2014/main" id="{12B0E93A-62CF-4D72-90F9-F73357B9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3528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breadth-item-2">
            <a:extLst xmlns:a="http://schemas.openxmlformats.org/drawingml/2006/main">
              <a:ext uri="{FF2B5EF4-FFF2-40B4-BE49-F238E27FC236}">
                <a16:creationId xmlns:a16="http://schemas.microsoft.com/office/drawing/2014/main" id="{20E85C5B-B0A4-4F4D-A73F-C5292315B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289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PDF reader · PDF okuyucu · PDF-читалка</a:t>
            </a:r>
          </a:p>
        </p:txBody>
      </p:sp>
      <p:sp>
        <p:nvSpPr>
          <p:cNvPr id="12" name="breadth-item-rule-3">
            <a:extLst xmlns:a="http://schemas.openxmlformats.org/drawingml/2006/main">
              <a:ext uri="{FF2B5EF4-FFF2-40B4-BE49-F238E27FC236}">
                <a16:creationId xmlns:a16="http://schemas.microsoft.com/office/drawing/2014/main" id="{B71E9D1B-802F-427B-A5CD-5211CA219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9052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breadth-item-3">
            <a:extLst xmlns:a="http://schemas.openxmlformats.org/drawingml/2006/main">
              <a:ext uri="{FF2B5EF4-FFF2-40B4-BE49-F238E27FC236}">
                <a16:creationId xmlns:a16="http://schemas.microsoft.com/office/drawing/2014/main" id="{F1D3D142-0D71-413F-B7CE-02CDB64D4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814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AI tutor · AI öğretmen · ИИ-преподаватель</a:t>
            </a:r>
          </a:p>
        </p:txBody>
      </p:sp>
      <p:sp>
        <p:nvSpPr>
          <p:cNvPr id="14" name="breadth-item-rule-4">
            <a:extLst xmlns:a="http://schemas.openxmlformats.org/drawingml/2006/main">
              <a:ext uri="{FF2B5EF4-FFF2-40B4-BE49-F238E27FC236}">
                <a16:creationId xmlns:a16="http://schemas.microsoft.com/office/drawing/2014/main" id="{362B3A08-DFA7-437F-AE8A-2F8464E6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4577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5" name="breadth-item-4">
            <a:extLst xmlns:a="http://schemas.openxmlformats.org/drawingml/2006/main">
              <a:ext uri="{FF2B5EF4-FFF2-40B4-BE49-F238E27FC236}">
                <a16:creationId xmlns:a16="http://schemas.microsoft.com/office/drawing/2014/main" id="{4DAC305A-6A7B-421B-898B-E23491FD8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1338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Speaking, handwriting, exams, progress</a:t>
            </a:r>
          </a:p>
        </p:txBody>
      </p:sp>
      <p:sp>
        <p:nvSpPr>
          <p:cNvPr id="16" name="breadth-item-rule-5">
            <a:extLst xmlns:a="http://schemas.openxmlformats.org/drawingml/2006/main">
              <a:ext uri="{FF2B5EF4-FFF2-40B4-BE49-F238E27FC236}">
                <a16:creationId xmlns:a16="http://schemas.microsoft.com/office/drawing/2014/main" id="{A38049F2-6D57-4D56-998E-2CE9DBC1F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101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7" name="breadth-item-5">
            <a:extLst xmlns:a="http://schemas.openxmlformats.org/drawingml/2006/main">
              <a:ext uri="{FF2B5EF4-FFF2-40B4-BE49-F238E27FC236}">
                <a16:creationId xmlns:a16="http://schemas.microsoft.com/office/drawing/2014/main" id="{CBC91B21-D4B6-42FD-95E4-CAC8D5B2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6863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Konuşma, el yazısı, sınav, ilerleme</a:t>
            </a:r>
          </a:p>
        </p:txBody>
      </p:sp>
      <p:sp>
        <p:nvSpPr>
          <p:cNvPr id="18" name="breadth-item-rule-6">
            <a:extLst xmlns:a="http://schemas.openxmlformats.org/drawingml/2006/main">
              <a:ext uri="{FF2B5EF4-FFF2-40B4-BE49-F238E27FC236}">
                <a16:creationId xmlns:a16="http://schemas.microsoft.com/office/drawing/2014/main" id="{944DEE5C-1DD2-4260-97C0-D061929C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5626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9" name="breadth-item-6">
            <a:extLst xmlns:a="http://schemas.openxmlformats.org/drawingml/2006/main">
              <a:ext uri="{FF2B5EF4-FFF2-40B4-BE49-F238E27FC236}">
                <a16:creationId xmlns:a16="http://schemas.microsoft.com/office/drawing/2014/main" id="{65E84A15-7D2E-49C3-9C3A-DD8258D02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2387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Разговор, почерк, экзамены, прогресс</a:t>
            </a:r>
          </a:p>
        </p:txBody>
      </p:sp>
      <p:sp>
        <p:nvSpPr>
          <p:cNvPr id="20" name="footer-5">
            <a:extLst xmlns:a="http://schemas.openxmlformats.org/drawingml/2006/main">
              <a:ext uri="{FF2B5EF4-FFF2-40B4-BE49-F238E27FC236}">
                <a16:creationId xmlns:a16="http://schemas.microsoft.com/office/drawing/2014/main" id="{91363616-57AA-42EB-9AFD-147F0912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39398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privacy-title">
            <a:extLst xmlns:a="http://schemas.openxmlformats.org/drawingml/2006/main">
              <a:ext uri="{FF2B5EF4-FFF2-40B4-BE49-F238E27FC236}">
                <a16:creationId xmlns:a16="http://schemas.microsoft.com/office/drawing/2014/main" id="{3B6462F2-1FD8-4AB5-8066-4FC78E31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Private by default. Flexible when needed.</a:t>
            </a:r>
          </a:p>
        </p:txBody>
      </p:sp>
      <p:sp>
        <p:nvSpPr>
          <p:cNvPr id="2" name="privacy-tr">
            <a:extLst xmlns:a="http://schemas.openxmlformats.org/drawingml/2006/main">
              <a:ext uri="{FF2B5EF4-FFF2-40B4-BE49-F238E27FC236}">
                <a16:creationId xmlns:a16="http://schemas.microsoft.com/office/drawing/2014/main" id="{D09B8B5E-8D1E-48E4-A4E3-C92FE6DA8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096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Varsayılan olarak özel. Gerektiğinde esnek.</a:t>
            </a:r>
          </a:p>
        </p:txBody>
      </p:sp>
      <p:sp>
        <p:nvSpPr>
          <p:cNvPr id="3" name="privacy-ru">
            <a:extLst xmlns:a="http://schemas.openxmlformats.org/drawingml/2006/main">
              <a:ext uri="{FF2B5EF4-FFF2-40B4-BE49-F238E27FC236}">
                <a16:creationId xmlns:a16="http://schemas.microsoft.com/office/drawing/2014/main" id="{CB448BDE-7AE8-4F93-AE0D-46A549E59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335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Конфиденциальность по умолчанию. Гибкость при необходимости.</a:t>
            </a:r>
          </a:p>
        </p:txBody>
      </p:sp>
      <p:sp>
        <p:nvSpPr>
          <p:cNvPr id="4" name="privacy-divider">
            <a:extLst xmlns:a="http://schemas.openxmlformats.org/drawingml/2006/main">
              <a:ext uri="{FF2B5EF4-FFF2-40B4-BE49-F238E27FC236}">
                <a16:creationId xmlns:a16="http://schemas.microsoft.com/office/drawing/2014/main" id="{72BC0247-C049-4998-BA4B-02A95A086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19300"/>
            <a:ext cx="0" cy="3333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local-label">
            <a:extLst xmlns:a="http://schemas.openxmlformats.org/drawingml/2006/main">
              <a:ext uri="{FF2B5EF4-FFF2-40B4-BE49-F238E27FC236}">
                <a16:creationId xmlns:a16="http://schemas.microsoft.com/office/drawing/2014/main" id="{8DB759C2-781C-4365-ACE0-CC07BCD5C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907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LOCAL CORE</a:t>
            </a:r>
          </a:p>
        </p:txBody>
      </p:sp>
      <p:sp>
        <p:nvSpPr>
          <p:cNvPr id="6" name="local-head">
            <a:extLst xmlns:a="http://schemas.openxmlformats.org/drawingml/2006/main">
              <a:ext uri="{FF2B5EF4-FFF2-40B4-BE49-F238E27FC236}">
                <a16:creationId xmlns:a16="http://schemas.microsoft.com/office/drawing/2014/main" id="{778A9476-C4C0-4A89-A83C-130A6C09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Study data stays on your machine</a:t>
            </a:r>
          </a:p>
        </p:txBody>
      </p:sp>
      <p:sp>
        <p:nvSpPr>
          <p:cNvPr id="7" name="local-copy">
            <a:extLst xmlns:a="http://schemas.openxmlformats.org/drawingml/2006/main">
              <a:ext uri="{FF2B5EF4-FFF2-40B4-BE49-F238E27FC236}">
                <a16:creationId xmlns:a16="http://schemas.microsoft.com/office/drawing/2014/main" id="{1B5BD278-7FD2-4DA5-B573-F7481EB94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İlerleme SQLite içinde yerel saklanır.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Sözlük ve AI öğretmen LM Studio ile yerelde çalışır.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Прогресс хранится локально в SQLite.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Словарь и ИИ работают локально через LM Studio.</a:t>
            </a:r>
          </a:p>
        </p:txBody>
      </p:sp>
      <p:sp>
        <p:nvSpPr>
          <p:cNvPr id="8" name="optional-label">
            <a:extLst xmlns:a="http://schemas.openxmlformats.org/drawingml/2006/main">
              <a:ext uri="{FF2B5EF4-FFF2-40B4-BE49-F238E27FC236}">
                <a16:creationId xmlns:a16="http://schemas.microsoft.com/office/drawing/2014/main" id="{B822A361-50FB-4134-9EA2-36CC32607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907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OPTIONAL NETWORK</a:t>
            </a:r>
          </a:p>
        </p:txBody>
      </p:sp>
      <p:sp>
        <p:nvSpPr>
          <p:cNvPr id="9" name="optional-head">
            <a:extLst xmlns:a="http://schemas.openxmlformats.org/drawingml/2006/main">
              <a:ext uri="{FF2B5EF4-FFF2-40B4-BE49-F238E27FC236}">
                <a16:creationId xmlns:a16="http://schemas.microsoft.com/office/drawing/2014/main" id="{494D15CA-D68F-430A-BD1E-1D8290019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6700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Online features activate only by choice</a:t>
            </a:r>
          </a:p>
        </p:txBody>
      </p:sp>
      <p:sp>
        <p:nvSpPr>
          <p:cNvPr id="10" name="optional-copy">
            <a:extLst xmlns:a="http://schemas.openxmlformats.org/drawingml/2006/main">
              <a:ext uri="{FF2B5EF4-FFF2-40B4-BE49-F238E27FC236}">
                <a16:creationId xmlns:a16="http://schemas.microsoft.com/office/drawing/2014/main" id="{2B21E2DA-423D-4799-AAB7-271C923F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38550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Kaynak indirmeleri ve alternatif AI ucu (NVIDIA NIM / özel OpenAI uyumlu URL) internet kullanır; anahtar Credential Manager'da.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Core learning remains available without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Загрузки и альтернативный ИИ-узел (NVIDIA NIM) используют интернет.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Основное обучение доступно и без них.</a:t>
            </a:r>
          </a:p>
        </p:txBody>
      </p:sp>
      <p:sp>
        <p:nvSpPr>
          <p:cNvPr id="11" name="footer-6">
            <a:extLst xmlns:a="http://schemas.openxmlformats.org/drawingml/2006/main">
              <a:ext uri="{FF2B5EF4-FFF2-40B4-BE49-F238E27FC236}">
                <a16:creationId xmlns:a16="http://schemas.microsoft.com/office/drawing/2014/main" id="{D832C1DB-C58D-4422-A96C-5AFAD5D1C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008698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platform-title">
            <a:extLst xmlns:a="http://schemas.openxmlformats.org/drawingml/2006/main">
              <a:ext uri="{FF2B5EF4-FFF2-40B4-BE49-F238E27FC236}">
                <a16:creationId xmlns:a16="http://schemas.microsoft.com/office/drawing/2014/main" id="{929CDE40-96E4-4A9B-9E39-4730F0064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Platforms &amp; Download</a:t>
            </a:r>
          </a:p>
        </p:txBody>
      </p:sp>
      <p:sp>
        <p:nvSpPr>
          <p:cNvPr id="2" name="platform-subtitle">
            <a:extLst xmlns:a="http://schemas.openxmlformats.org/drawingml/2006/main">
              <a:ext uri="{FF2B5EF4-FFF2-40B4-BE49-F238E27FC236}">
                <a16:creationId xmlns:a16="http://schemas.microsoft.com/office/drawing/2014/main" id="{D493C776-2349-4FA1-B6E2-41D7B82B3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Platformlar &amp; İndirme  •  Платформы и загрузка</a:t>
            </a:r>
          </a:p>
        </p:txBody>
      </p:sp>
      <p:sp>
        <p:nvSpPr>
          <p:cNvPr id="3" name="platform-rule">
            <a:extLst xmlns:a="http://schemas.openxmlformats.org/drawingml/2006/main">
              <a:ext uri="{FF2B5EF4-FFF2-40B4-BE49-F238E27FC236}">
                <a16:creationId xmlns:a16="http://schemas.microsoft.com/office/drawing/2014/main" id="{DB894183-94E8-4A62-953B-6843FB7DA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66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platform-label-0">
            <a:extLst xmlns:a="http://schemas.openxmlformats.org/drawingml/2006/main">
              <a:ext uri="{FF2B5EF4-FFF2-40B4-BE49-F238E27FC236}">
                <a16:creationId xmlns:a16="http://schemas.microsoft.com/office/drawing/2014/main" id="{A9A16FEA-11D7-445D-BA63-570D233CC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5" name="platform-body-0">
            <a:extLst xmlns:a="http://schemas.openxmlformats.org/drawingml/2006/main">
              <a:ext uri="{FF2B5EF4-FFF2-40B4-BE49-F238E27FC236}">
                <a16:creationId xmlns:a16="http://schemas.microsoft.com/office/drawing/2014/main" id="{1BF06F9B-E83D-4D9B-A51D-4E0AAB108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github.com/Azizsekerdil/RussianCourseAI/releases (v1.1.1) (özel repo)</a:t>
            </a:r>
          </a:p>
        </p:txBody>
      </p:sp>
      <p:sp>
        <p:nvSpPr>
          <p:cNvPr id="6" name="platform-label-1">
            <a:extLst xmlns:a="http://schemas.openxmlformats.org/drawingml/2006/main">
              <a:ext uri="{FF2B5EF4-FFF2-40B4-BE49-F238E27FC236}">
                <a16:creationId xmlns:a16="http://schemas.microsoft.com/office/drawing/2014/main" id="{F5B94F5C-3FB6-43C3-92FF-FE3D1A61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004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7" name="platform-body-1">
            <a:extLst xmlns:a="http://schemas.openxmlformats.org/drawingml/2006/main">
              <a:ext uri="{FF2B5EF4-FFF2-40B4-BE49-F238E27FC236}">
                <a16:creationId xmlns:a16="http://schemas.microsoft.com/office/drawing/2014/main" id="{243A7F19-9278-4934-A154-6AFE371CB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671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(v1.1.1)</a:t>
            </a:r>
          </a:p>
        </p:txBody>
      </p:sp>
      <p:sp>
        <p:nvSpPr>
          <p:cNvPr id="8" name="platform-label-2">
            <a:extLst xmlns:a="http://schemas.openxmlformats.org/drawingml/2006/main">
              <a:ext uri="{FF2B5EF4-FFF2-40B4-BE49-F238E27FC236}">
                <a16:creationId xmlns:a16="http://schemas.microsoft.com/office/drawing/2014/main" id="{B9A955CF-2E2F-4EC5-98C1-2793F9DB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РУССКИЙ</a:t>
            </a:r>
          </a:p>
        </p:txBody>
      </p:sp>
      <p:sp>
        <p:nvSpPr>
          <p:cNvPr id="9" name="platform-body-2">
            <a:extLst xmlns:a="http://schemas.openxmlformats.org/drawingml/2006/main">
              <a:ext uri="{FF2B5EF4-FFF2-40B4-BE49-F238E27FC236}">
                <a16:creationId xmlns:a16="http://schemas.microsoft.com/office/drawing/2014/main" id="{4061D35F-D154-4262-AB11-EAF073F0F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577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Windows 10/11 (x64) и macOS (Apple Silicon) — Загрузка: GitHub Releases (v1.1.1)</a:t>
            </a:r>
          </a:p>
        </p:txBody>
      </p:sp>
      <p:sp>
        <p:nvSpPr>
          <p:cNvPr id="10" name="platform-footnote-rule">
            <a:extLst xmlns:a="http://schemas.openxmlformats.org/drawingml/2006/main">
              <a:ext uri="{FF2B5EF4-FFF2-40B4-BE49-F238E27FC236}">
                <a16:creationId xmlns:a16="http://schemas.microsoft.com/office/drawing/2014/main" id="{48AB8463-E889-4A6C-88B8-CB39656E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95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platform-footnote">
            <a:extLst xmlns:a="http://schemas.openxmlformats.org/drawingml/2006/main">
              <a:ext uri="{FF2B5EF4-FFF2-40B4-BE49-F238E27FC236}">
                <a16:creationId xmlns:a16="http://schemas.microsoft.com/office/drawing/2014/main" id="{BCB1BEB9-2111-4AC5-B9B3-93E345ED4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864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Release v1.1.1 — iki paket: Windows zip + macOS zip. macOS paketi Apple Silicon (arm64) içindir ve notarize edilmemiştir; ilk açılışta sağ tık → Aç.</a:t>
            </a:r>
          </a:p>
          <a:p xmlns:a="http://schemas.openxmlformats.org/drawingml/2006/main">
            <a:pPr algn="l">
              <a:defRPr sz="11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Depo özel (private) — github.com/Azizsekerdil/RussianCourseAI bağlantısına yalnızca hesap sahibi erişebilir.</a:t>
            </a:r>
          </a:p>
        </p:txBody>
      </p:sp>
      <p:sp>
        <p:nvSpPr>
          <p:cNvPr id="12" name="footer-7">
            <a:extLst xmlns:a="http://schemas.openxmlformats.org/drawingml/2006/main">
              <a:ext uri="{FF2B5EF4-FFF2-40B4-BE49-F238E27FC236}">
                <a16:creationId xmlns:a16="http://schemas.microsoft.com/office/drawing/2014/main" id="{D0D163A4-F6D1-4B37-9B0F-CFFC1D3E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364873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D300B525-C31B-4FB4-91CC-8FB7F1AA7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START YOUR NEXT SESSION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8967CFA2-9D70-4A71-B4AA-21F4E8533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1000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Build a Russian routine</a:t>
            </a:r>
          </a:p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that belongs to you.</a:t>
            </a:r>
          </a:p>
        </p:txBody>
      </p:sp>
      <p:sp>
        <p:nvSpPr>
          <p:cNvPr id="3" name="close-tr">
            <a:extLst xmlns:a="http://schemas.openxmlformats.org/drawingml/2006/main">
              <a:ext uri="{FF2B5EF4-FFF2-40B4-BE49-F238E27FC236}">
                <a16:creationId xmlns:a16="http://schemas.microsoft.com/office/drawing/2014/main" id="{EDA8523A-7968-47A7-A929-E3D072F5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243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Size ait bir Rusça rutini oluşturun.</a:t>
            </a:r>
          </a:p>
        </p:txBody>
      </p:sp>
      <p:sp>
        <p:nvSpPr>
          <p:cNvPr id="4" name="close-ru">
            <a:extLst xmlns:a="http://schemas.openxmlformats.org/drawingml/2006/main">
              <a:ext uri="{FF2B5EF4-FFF2-40B4-BE49-F238E27FC236}">
                <a16:creationId xmlns:a16="http://schemas.microsoft.com/office/drawing/2014/main" id="{8586F624-44E6-4BDC-9D2A-C36E2314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006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Создайте свой ритм изучения русского.</a:t>
            </a:r>
          </a:p>
        </p:txBody>
      </p:sp>
      <p:sp>
        <p:nvSpPr>
          <p:cNvPr id="5" name="close-rule">
            <a:extLst xmlns:a="http://schemas.openxmlformats.org/drawingml/2006/main">
              <a:ext uri="{FF2B5EF4-FFF2-40B4-BE49-F238E27FC236}">
                <a16:creationId xmlns:a16="http://schemas.microsoft.com/office/drawing/2014/main" id="{E6702B72-2FC5-4279-A6E4-D28E64C7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close-action">
            <a:extLst xmlns:a="http://schemas.openxmlformats.org/drawingml/2006/main">
              <a:ext uri="{FF2B5EF4-FFF2-40B4-BE49-F238E27FC236}">
                <a16:creationId xmlns:a16="http://schemas.microsoft.com/office/drawing/2014/main" id="{B79C0415-24E6-438C-9BD0-B820EE486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483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INSTALL  •  LEARN  •  REVIEW</a:t>
            </a:r>
          </a:p>
        </p:txBody>
      </p:sp>
      <p:sp>
        <p:nvSpPr>
          <p:cNvPr id="7" name="close-meta">
            <a:extLst xmlns:a="http://schemas.openxmlformats.org/drawingml/2006/main">
              <a:ext uri="{FF2B5EF4-FFF2-40B4-BE49-F238E27FC236}">
                <a16:creationId xmlns:a16="http://schemas.microsoft.com/office/drawing/2014/main" id="{1C01098E-264B-49E3-B718-9017A411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848350"/>
            <a:ext cx="512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Windows 10/11 + macOS  •  A1-C1  •  TR / EN / RU</a:t>
            </a:r>
          </a:p>
        </p:txBody>
      </p:sp>
      <p:sp>
        <p:nvSpPr>
          <p:cNvPr id="8" name="footer-8">
            <a:extLst xmlns:a="http://schemas.openxmlformats.org/drawingml/2006/main">
              <a:ext uri="{FF2B5EF4-FFF2-40B4-BE49-F238E27FC236}">
                <a16:creationId xmlns:a16="http://schemas.microsoft.com/office/drawing/2014/main" id="{AAC7D334-2D65-4277-82D6-85B1DFD2B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047525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2026-09-06T08:56:39.8630000Z</dcterms:created>
  <dcterms:modified xsi:type="dcterms:W3CDTF">2026-09-06T08:56:39.8630000Z</dcterms:modified>
</coreProperties>
</file>