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0bf618cbf34e7d" /><Relationship Type="http://schemas.openxmlformats.org/officeDocument/2006/relationships/extended-properties" Target="/docProps/app.xml" Id="R1a562c44b4a04eb6" /><Relationship Type="http://schemas.openxmlformats.org/officeDocument/2006/relationships/officeDocument" Target="/ppt/presentation.xml" Id="R7db239bf14f94a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31525ca69f45a3"/>
  </p:sldMasterIdLst>
  <p:notesMasterIdLst>
    <p:notesMasterId xmlns:r="http://schemas.openxmlformats.org/officeDocument/2006/relationships" r:id="R905f8c3d0d7f4a7b"/>
  </p:notesMasterIdLst>
  <p:sldIdLst>
    <p:sldId xmlns:r="http://schemas.openxmlformats.org/officeDocument/2006/relationships" id="256" r:id="Rb6845efdf8de4470"/>
    <p:sldId xmlns:r="http://schemas.openxmlformats.org/officeDocument/2006/relationships" id="257" r:id="R22c43fad7d0f4604"/>
    <p:sldId xmlns:r="http://schemas.openxmlformats.org/officeDocument/2006/relationships" id="258" r:id="R3c133cc873e54ed8"/>
    <p:sldId xmlns:r="http://schemas.openxmlformats.org/officeDocument/2006/relationships" id="259" r:id="Ra54fcbf90617422b"/>
    <p:sldId xmlns:r="http://schemas.openxmlformats.org/officeDocument/2006/relationships" id="260" r:id="R6e2daa3f99f24eba"/>
    <p:sldId xmlns:r="http://schemas.openxmlformats.org/officeDocument/2006/relationships" id="261" r:id="Re925548124b14262"/>
    <p:sldId xmlns:r="http://schemas.openxmlformats.org/officeDocument/2006/relationships" id="262" r:id="R48454fa62d0d4b99"/>
    <p:sldId xmlns:r="http://schemas.openxmlformats.org/officeDocument/2006/relationships" id="263" r:id="Rbf089ad9f96c4cb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97563f7a49471b" /><Relationship Type="http://schemas.openxmlformats.org/officeDocument/2006/relationships/slideMaster" Target="/ppt/slideMasters/slideMaster1.xml" Id="Rf331525ca69f45a3" /><Relationship Type="http://schemas.openxmlformats.org/officeDocument/2006/relationships/notesMaster" Target="/ppt/notesMasters/notesMaster1.xml" Id="R905f8c3d0d7f4a7b" /><Relationship Type="http://schemas.openxmlformats.org/officeDocument/2006/relationships/presProps" Target="/ppt/presProps.xml" Id="Rf6a8c8f772d74356" /><Relationship Type="http://schemas.openxmlformats.org/officeDocument/2006/relationships/tableStyles" Target="/ppt/tableStyles.xml" Id="R111df1751f6042ee" /><Relationship Type="http://schemas.openxmlformats.org/officeDocument/2006/relationships/slide" Target="/ppt/slides/slide1.xml" Id="Rb6845efdf8de4470" /><Relationship Type="http://schemas.openxmlformats.org/officeDocument/2006/relationships/slide" Target="/ppt/slides/slide2.xml" Id="R22c43fad7d0f4604" /><Relationship Type="http://schemas.openxmlformats.org/officeDocument/2006/relationships/slide" Target="/ppt/slides/slide3.xml" Id="R3c133cc873e54ed8" /><Relationship Type="http://schemas.openxmlformats.org/officeDocument/2006/relationships/slide" Target="/ppt/slides/slide4.xml" Id="Ra54fcbf90617422b" /><Relationship Type="http://schemas.openxmlformats.org/officeDocument/2006/relationships/slide" Target="/ppt/slides/slide5.xml" Id="R6e2daa3f99f24eba" /><Relationship Type="http://schemas.openxmlformats.org/officeDocument/2006/relationships/slide" Target="/ppt/slides/slide6.xml" Id="Re925548124b14262" /><Relationship Type="http://schemas.openxmlformats.org/officeDocument/2006/relationships/slide" Target="/ppt/slides/slide7.xml" Id="R48454fa62d0d4b99" /><Relationship Type="http://schemas.openxmlformats.org/officeDocument/2006/relationships/slide" Target="/ppt/slides/slide8.xml" Id="Rbf089ad9f96c4c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bb789a65d343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f50247fc5e46bc" /><Relationship Type="http://schemas.openxmlformats.org/officeDocument/2006/relationships/notesMaster" Target="/ppt/notesMasters/notesMaster1.xml" Id="R08af2b31a2a848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af205193d84f19" /><Relationship Type="http://schemas.openxmlformats.org/officeDocument/2006/relationships/notesMaster" Target="/ppt/notesMasters/notesMaster1.xml" Id="R2f73b271285f4f0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f685c3650341e2" /><Relationship Type="http://schemas.openxmlformats.org/officeDocument/2006/relationships/notesMaster" Target="/ppt/notesMasters/notesMaster1.xml" Id="Rad68d01cf7be45a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52e1ae95b14cb5" /><Relationship Type="http://schemas.openxmlformats.org/officeDocument/2006/relationships/notesMaster" Target="/ppt/notesMasters/notesMaster1.xml" Id="R9d2fdcdb06f94f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ea0d2a605a4a79" /><Relationship Type="http://schemas.openxmlformats.org/officeDocument/2006/relationships/notesMaster" Target="/ppt/notesMasters/notesMaster1.xml" Id="R5337edf0bfee4d4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1e4a982a4b4d36" /><Relationship Type="http://schemas.openxmlformats.org/officeDocument/2006/relationships/notesMaster" Target="/ppt/notesMasters/notesMaster1.xml" Id="Ra093f33db85a4f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fff32ff0d746b3" /><Relationship Type="http://schemas.openxmlformats.org/officeDocument/2006/relationships/notesMaster" Target="/ppt/notesMasters/notesMaster1.xml" Id="R6ee2063ab54344c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da67c21bda4304" /><Relationship Type="http://schemas.openxmlformats.org/officeDocument/2006/relationships/notesMaster" Target="/ppt/notesMasters/notesMaster1.xml" Id="R547c332ed76e41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(product positioning and supported levels)</a:t>
            </a:r>
          </a:p>
          <a:p xmlns:a="http://schemas.openxmlformats.org/drawingml/2006/main">
            <a:r>
              <a:t>- docs/presentation/assets/russian-course-ai-hero.png (AI-generated original cover visual)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docs/presentation/assets/russian-course-ai-screenshot.png (user-supplied product screenshot)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rca/i18n.py (Turkish, English, and Russian interface catalog)</a:t>
            </a:r>
          </a:p>
          <a:p xmlns:a="http://schemas.openxmlformats.org/drawingml/2006/main">
            <a:r>
              <a:t>- Russian_Course_AI.pyw (instant and persistent language switching)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rca/tabs/srs_tab.py (daily review workflow and five study modes)</a:t>
            </a:r>
          </a:p>
          <a:p xmlns:a="http://schemas.openxmlformats.org/drawingml/2006/main">
            <a:r>
              <a:t>- Russian_Course_AI.pyw (learning, lab, read, practice, and system navigation groups)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Russian_Course_AI.pyw (18 entries in TAB_SPECS)</a:t>
            </a:r>
          </a:p>
          <a:p xmlns:a="http://schemas.openxmlformats.org/drawingml/2006/main">
            <a:r>
              <a:t>- rca/dictionary.py + rca/dict_data.py (RU-EN-TR dictionary with direction switch, 1,360 built-in entries with Turkish glosses, OpenRussian layer)</a:t>
            </a:r>
          </a:p>
          <a:p xmlns:a="http://schemas.openxmlformats.org/drawingml/2006/main">
            <a:r>
              <a:t>- README.md (feature descriptions)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(local LM Studio, optional NVIDIA NIM, and Resource Center network behavior)</a:t>
            </a:r>
          </a:p>
          <a:p xmlns:a="http://schemas.openxmlformats.org/drawingml/2006/main">
            <a:r>
              <a:t>- rca/db.py (SQLite persistence)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https://github.com/Azizsekerdil/RussianCourseAI/releases/tag/v1.3.0 (v1.3.0 release with Windows and macOS zip assets; MIT licensed)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(installation, learning levels, and feature overview)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dda9a99a1643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42bf92e20734d16" /><Relationship Type="http://schemas.openxmlformats.org/officeDocument/2006/relationships/slideLayout" Target="/ppt/slideLayouts/slideLayout1.xml" Id="R158d3525a2fc4e3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8d3525a2fc4e3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423c3073f4839" /><Relationship Type="http://schemas.openxmlformats.org/officeDocument/2006/relationships/image" Target="/ppt/media/image.png" Id="Rbc8a2a0742514f32" /><Relationship Type="http://schemas.openxmlformats.org/officeDocument/2006/relationships/notesSlide" Target="/ppt/notesSlides/notesSlide1.xml" Id="R8f962aa68adf48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d8cb9e74ff4df2" /><Relationship Type="http://schemas.openxmlformats.org/officeDocument/2006/relationships/image" Target="/ppt/media/image2.png" Id="R53140ab16da24d15" /><Relationship Type="http://schemas.openxmlformats.org/officeDocument/2006/relationships/notesSlide" Target="/ppt/notesSlides/notesSlide2.xml" Id="R96dfc88e087641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f2962d7b14b00" /><Relationship Type="http://schemas.openxmlformats.org/officeDocument/2006/relationships/notesSlide" Target="/ppt/notesSlides/notesSlide3.xml" Id="Rae406d3759eb45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e6dfdcf3d4959" /><Relationship Type="http://schemas.openxmlformats.org/officeDocument/2006/relationships/notesSlide" Target="/ppt/notesSlides/notesSlide4.xml" Id="R38a078db843843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abc833054f4179" /><Relationship Type="http://schemas.openxmlformats.org/officeDocument/2006/relationships/notesSlide" Target="/ppt/notesSlides/notesSlide5.xml" Id="R7f136d15f3a444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c6eadd19143da" /><Relationship Type="http://schemas.openxmlformats.org/officeDocument/2006/relationships/notesSlide" Target="/ppt/notesSlides/notesSlide6.xml" Id="Rd8cee6750f9546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90729a2fcb4f46" /><Relationship Type="http://schemas.openxmlformats.org/officeDocument/2006/relationships/notesSlide" Target="/ppt/notesSlides/notesSlide7.xml" Id="R3dd9d314e13443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7851af3d1f44c8" /><Relationship Type="http://schemas.openxmlformats.org/officeDocument/2006/relationships/notesSlide" Target="/ppt/notesSlides/notesSlide8.xml" Id="Rb3f8d621d37a4f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F3F69A0E-7593-4DE4-B71F-6F4A0D90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DESKTOP RUSSIAN LEARNING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B09B5C2-1008-4254-98F0-E6243E44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Russian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09796A5B-A07F-4AD6-9FBF-E7FD227B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121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4" name="cover-tr">
            <a:extLst xmlns:a="http://schemas.openxmlformats.org/drawingml/2006/main">
              <a:ext uri="{FF2B5EF4-FFF2-40B4-BE49-F238E27FC236}">
                <a16:creationId xmlns:a16="http://schemas.microsoft.com/office/drawing/2014/main" id="{AD746827-4929-43E9-AB13-05671AF7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Rusçayı tek bir odaklı uygulamada öğrenin.</a:t>
            </a:r>
          </a:p>
        </p:txBody>
      </p:sp>
      <p:sp>
        <p:nvSpPr>
          <p:cNvPr id="5" name="cover-en">
            <a:extLst xmlns:a="http://schemas.openxmlformats.org/drawingml/2006/main">
              <a:ext uri="{FF2B5EF4-FFF2-40B4-BE49-F238E27FC236}">
                <a16:creationId xmlns:a16="http://schemas.microsoft.com/office/drawing/2014/main" id="{FDBE5317-0A14-4E74-AB4B-92B12829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Russian in one focused desktop app.</a:t>
            </a:r>
          </a:p>
        </p:txBody>
      </p:sp>
      <p:sp>
        <p:nvSpPr>
          <p:cNvPr id="6" name="cover-ru">
            <a:extLst xmlns:a="http://schemas.openxmlformats.org/drawingml/2006/main">
              <a:ext uri="{FF2B5EF4-FFF2-40B4-BE49-F238E27FC236}">
                <a16:creationId xmlns:a16="http://schemas.microsoft.com/office/drawing/2014/main" id="{77DC9312-B9E7-421A-83F9-08BCB99B3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Изучайте русский в одном приложении.</a:t>
            </a:r>
          </a:p>
        </p:txBody>
      </p:sp>
      <p:sp>
        <p:nvSpPr>
          <p:cNvPr id="7" name="cover-meta">
            <a:extLst xmlns:a="http://schemas.openxmlformats.org/drawingml/2006/main">
              <a:ext uri="{FF2B5EF4-FFF2-40B4-BE49-F238E27FC236}">
                <a16:creationId xmlns:a16="http://schemas.microsoft.com/office/drawing/2014/main" id="{65192CAD-1FF9-4911-BF74-F0585E86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(x64) + macOS (Apple Silicon)  •  A1-C1  •  TR / EN / RU</a:t>
            </a:r>
          </a:p>
        </p:txBody>
      </p:sp>
      <p:sp>
        <p:nvSpPr>
          <p:cNvPr id="8" name="hero-backing">
            <a:extLst xmlns:a="http://schemas.openxmlformats.org/drawingml/2006/main">
              <a:ext uri="{FF2B5EF4-FFF2-40B4-BE49-F238E27FC236}">
                <a16:creationId xmlns:a16="http://schemas.microsoft.com/office/drawing/2014/main" id="{245D9E3C-0C46-40F7-AE0B-E7BCA2F5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0F152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8a2a0742514f32"/>
          <a:srcRect xmlns:a="http://schemas.openxmlformats.org/drawingml/2006/main" l="510" t="0" r="5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</p:spPr>
      </p:pic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D0E70540-DDCF-4DB3-BA32-9BB407D9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960167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5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creen-title">
            <a:extLst xmlns:a="http://schemas.openxmlformats.org/drawingml/2006/main">
              <a:ext uri="{FF2B5EF4-FFF2-40B4-BE49-F238E27FC236}">
                <a16:creationId xmlns:a16="http://schemas.microsoft.com/office/drawing/2014/main" id="{9E47697D-4B67-4E04-9850-3F5973D3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interface. Every practice mode.</a:t>
            </a:r>
          </a:p>
        </p:txBody>
      </p:sp>
      <p:sp>
        <p:nvSpPr>
          <p:cNvPr id="2" name="screen-subtitle">
            <a:extLst xmlns:a="http://schemas.openxmlformats.org/drawingml/2006/main">
              <a:ext uri="{FF2B5EF4-FFF2-40B4-BE49-F238E27FC236}">
                <a16:creationId xmlns:a16="http://schemas.microsoft.com/office/drawing/2014/main" id="{4CC5A66A-9A3D-45B6-80B0-F6F9FAFD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Tek arayüz. Tüm çalışma biçimleri.  •  Один интерфейс. Все форматы практики.</a:t>
            </a:r>
          </a:p>
        </p:txBody>
      </p:sp>
      <p:sp>
        <p:nvSpPr>
          <p:cNvPr id="3" name="screen-frame">
            <a:extLst xmlns:a="http://schemas.openxmlformats.org/drawingml/2006/main">
              <a:ext uri="{FF2B5EF4-FFF2-40B4-BE49-F238E27FC236}">
                <a16:creationId xmlns:a16="http://schemas.microsoft.com/office/drawing/2014/main" id="{D18AB795-4A12-4B7A-B254-6AE05E43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110490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171D2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140ab16da24d15"/>
          <a:stretch xmlns:a="http://schemas.openxmlformats.org/drawingml/2006/main"/>
        </p:blipFill>
        <p:spPr>
          <a:xfrm xmlns:a="http://schemas.openxmlformats.org/drawingml/2006/main">
            <a:off x="2728015" y="1600200"/>
            <a:ext cx="6735971" cy="4533900"/>
          </a:xfrm>
          <a:prstGeom xmlns:a="http://schemas.openxmlformats.org/drawingml/2006/main" prst="roundRect">
            <a:avLst>
              <a:gd name="adj" fmla="val 2521"/>
            </a:avLst>
          </a:prstGeom>
        </p:spPr>
      </p:pic>
      <p:sp>
        <p:nvSpPr>
          <p:cNvPr id="5" name="screen-footer">
            <a:extLst xmlns:a="http://schemas.openxmlformats.org/drawingml/2006/main">
              <a:ext uri="{FF2B5EF4-FFF2-40B4-BE49-F238E27FC236}">
                <a16:creationId xmlns:a16="http://schemas.microsoft.com/office/drawing/2014/main" id="{16DAC262-7396-4C8D-AE27-76EA8014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071296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language-title">
            <a:extLst xmlns:a="http://schemas.openxmlformats.org/drawingml/2006/main">
              <a:ext uri="{FF2B5EF4-FFF2-40B4-BE49-F238E27FC236}">
                <a16:creationId xmlns:a16="http://schemas.microsoft.com/office/drawing/2014/main" id="{3C0D6D39-F30C-4AA6-B231-5DF226C12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One interface, three languages</a:t>
            </a:r>
          </a:p>
        </p:txBody>
      </p:sp>
      <p:sp>
        <p:nvSpPr>
          <p:cNvPr id="2" name="language-subtitle">
            <a:extLst xmlns:a="http://schemas.openxmlformats.org/drawingml/2006/main">
              <a:ext uri="{FF2B5EF4-FFF2-40B4-BE49-F238E27FC236}">
                <a16:creationId xmlns:a16="http://schemas.microsoft.com/office/drawing/2014/main" id="{E558572D-3CA5-4BFC-A5C2-4F9069BA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Dil seçimi anında uygulanır ve sonraki açılış için kaydedilir.</a:t>
            </a:r>
          </a:p>
        </p:txBody>
      </p:sp>
      <p:sp>
        <p:nvSpPr>
          <p:cNvPr id="3" name="language-rule">
            <a:extLst xmlns:a="http://schemas.openxmlformats.org/drawingml/2006/main">
              <a:ext uri="{FF2B5EF4-FFF2-40B4-BE49-F238E27FC236}">
                <a16:creationId xmlns:a16="http://schemas.microsoft.com/office/drawing/2014/main" id="{94804A5D-38B7-45AF-B1D5-C4903C8C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language-label-0">
            <a:extLst xmlns:a="http://schemas.openxmlformats.org/drawingml/2006/main">
              <a:ext uri="{FF2B5EF4-FFF2-40B4-BE49-F238E27FC236}">
                <a16:creationId xmlns:a16="http://schemas.microsoft.com/office/drawing/2014/main" id="{32F178E9-33B7-4DED-89F0-33B726F5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language-head-0">
            <a:extLst xmlns:a="http://schemas.openxmlformats.org/drawingml/2006/main">
              <a:ext uri="{FF2B5EF4-FFF2-40B4-BE49-F238E27FC236}">
                <a16:creationId xmlns:a16="http://schemas.microsoft.com/office/drawing/2014/main" id="{471D43DA-5A06-469C-A0BB-4371807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Öğrenmeye odaklanın</a:t>
            </a:r>
          </a:p>
        </p:txBody>
      </p:sp>
      <p:sp>
        <p:nvSpPr>
          <p:cNvPr id="6" name="language-body-0">
            <a:extLst xmlns:a="http://schemas.openxmlformats.org/drawingml/2006/main">
              <a:ext uri="{FF2B5EF4-FFF2-40B4-BE49-F238E27FC236}">
                <a16:creationId xmlns:a16="http://schemas.microsoft.com/office/drawing/2014/main" id="{18A08C71-F3E3-4339-9E8B-2393AB29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Menüler, çalışma akışı ve AI yönergeleri seçtiğiniz dile uyum sağlar.</a:t>
            </a:r>
          </a:p>
        </p:txBody>
      </p:sp>
      <p:sp>
        <p:nvSpPr>
          <p:cNvPr id="7" name="language-accent-0">
            <a:extLst xmlns:a="http://schemas.openxmlformats.org/drawingml/2006/main">
              <a:ext uri="{FF2B5EF4-FFF2-40B4-BE49-F238E27FC236}">
                <a16:creationId xmlns:a16="http://schemas.microsoft.com/office/drawing/2014/main" id="{5D6575EC-9B61-448B-843F-E3760FC7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131A"/>
            </a:solidFill>
            <a:prstDash val="solid"/>
          </a:ln>
        </p:spPr>
      </p:sp>
      <p:sp>
        <p:nvSpPr>
          <p:cNvPr id="8" name="language-label-1">
            <a:extLst xmlns:a="http://schemas.openxmlformats.org/drawingml/2006/main">
              <a:ext uri="{FF2B5EF4-FFF2-40B4-BE49-F238E27FC236}">
                <a16:creationId xmlns:a16="http://schemas.microsoft.com/office/drawing/2014/main" id="{12B75784-C3F6-4D15-B7D0-DBC9FE2E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9" name="language-head-1">
            <a:extLst xmlns:a="http://schemas.openxmlformats.org/drawingml/2006/main">
              <a:ext uri="{FF2B5EF4-FFF2-40B4-BE49-F238E27FC236}">
                <a16:creationId xmlns:a16="http://schemas.microsoft.com/office/drawing/2014/main" id="{92A096AE-FE14-4A7D-92CE-A0F01EBC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without friction</a:t>
            </a:r>
          </a:p>
        </p:txBody>
      </p:sp>
      <p:sp>
        <p:nvSpPr>
          <p:cNvPr id="10" name="language-body-1">
            <a:extLst xmlns:a="http://schemas.openxmlformats.org/drawingml/2006/main">
              <a:ext uri="{FF2B5EF4-FFF2-40B4-BE49-F238E27FC236}">
                <a16:creationId xmlns:a16="http://schemas.microsoft.com/office/drawing/2014/main" id="{48C645BE-BE0C-401C-AF5A-EC98F860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D8DFF"/>
                </a:solidFill>
                <a:latin typeface="Arial"/>
                <a:ea typeface="Arial"/>
                <a:cs typeface="Arial"/>
              </a:rPr>
              <a:t>Navigation, study flows, and AI guidance follow your selected language.</a:t>
            </a:r>
          </a:p>
        </p:txBody>
      </p:sp>
      <p:sp>
        <p:nvSpPr>
          <p:cNvPr id="11" name="language-accent-1">
            <a:extLst xmlns:a="http://schemas.openxmlformats.org/drawingml/2006/main">
              <a:ext uri="{FF2B5EF4-FFF2-40B4-BE49-F238E27FC236}">
                <a16:creationId xmlns:a16="http://schemas.microsoft.com/office/drawing/2014/main" id="{00621A78-B808-46F0-B76A-0CF41FAD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12" name="language-label-2">
            <a:extLst xmlns:a="http://schemas.openxmlformats.org/drawingml/2006/main">
              <a:ext uri="{FF2B5EF4-FFF2-40B4-BE49-F238E27FC236}">
                <a16:creationId xmlns:a16="http://schemas.microsoft.com/office/drawing/2014/main" id="{1BA483A9-9D0E-4340-A1E1-C5DDE1EA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13" name="language-head-2">
            <a:extLst xmlns:a="http://schemas.openxmlformats.org/drawingml/2006/main">
              <a:ext uri="{FF2B5EF4-FFF2-40B4-BE49-F238E27FC236}">
                <a16:creationId xmlns:a16="http://schemas.microsoft.com/office/drawing/2014/main" id="{41B5D1E6-4D4F-462C-A24A-743AEA5A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Учитесь без барьеров</a:t>
            </a:r>
          </a:p>
        </p:txBody>
      </p:sp>
      <p:sp>
        <p:nvSpPr>
          <p:cNvPr id="14" name="language-body-2">
            <a:extLst xmlns:a="http://schemas.openxmlformats.org/drawingml/2006/main">
              <a:ext uri="{FF2B5EF4-FFF2-40B4-BE49-F238E27FC236}">
                <a16:creationId xmlns:a16="http://schemas.microsoft.com/office/drawing/2014/main" id="{19B58886-32D3-4121-9AB0-4124F535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Навигация, упражнения и инструкции для ИИ работают на выбранном языке.</a:t>
            </a:r>
          </a:p>
        </p:txBody>
      </p:sp>
      <p:sp>
        <p:nvSpPr>
          <p:cNvPr id="15" name="language-accent-2">
            <a:extLst xmlns:a="http://schemas.openxmlformats.org/drawingml/2006/main">
              <a:ext uri="{FF2B5EF4-FFF2-40B4-BE49-F238E27FC236}">
                <a16:creationId xmlns:a16="http://schemas.microsoft.com/office/drawing/2014/main" id="{38F774E1-64C2-48D9-BBD8-728560AB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F6675"/>
            </a:solidFill>
            <a:prstDash val="solid"/>
          </a:ln>
        </p:spPr>
      </p:sp>
      <p:sp>
        <p:nvSpPr>
          <p:cNvPr id="16" name="footer-3">
            <a:extLst xmlns:a="http://schemas.openxmlformats.org/drawingml/2006/main">
              <a:ext uri="{FF2B5EF4-FFF2-40B4-BE49-F238E27FC236}">
                <a16:creationId xmlns:a16="http://schemas.microsoft.com/office/drawing/2014/main" id="{19407ADF-515C-48C3-A9A9-76D0BDCC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201957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loop-title">
            <a:extLst xmlns:a="http://schemas.openxmlformats.org/drawingml/2006/main">
              <a:ext uri="{FF2B5EF4-FFF2-40B4-BE49-F238E27FC236}">
                <a16:creationId xmlns:a16="http://schemas.microsoft.com/office/drawing/2014/main" id="{78DF29C6-E528-4430-91C4-2C1FA06BF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A daily loop that keeps momentum</a:t>
            </a:r>
          </a:p>
        </p:txBody>
      </p:sp>
      <p:sp>
        <p:nvSpPr>
          <p:cNvPr id="2" name="loop-subtitle">
            <a:extLst xmlns:a="http://schemas.openxmlformats.org/drawingml/2006/main">
              <a:ext uri="{FF2B5EF4-FFF2-40B4-BE49-F238E27FC236}">
                <a16:creationId xmlns:a16="http://schemas.microsoft.com/office/drawing/2014/main" id="{051A6310-2EFC-4783-9F13-985711F5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Her gün küçük bir döngü.  •  A small loop every day.  •  Небольшой цикл каждый день.</a:t>
            </a:r>
          </a:p>
        </p:txBody>
      </p:sp>
      <p:sp>
        <p:nvSpPr>
          <p:cNvPr id="3" name="loop-track">
            <a:extLst xmlns:a="http://schemas.openxmlformats.org/drawingml/2006/main">
              <a:ext uri="{FF2B5EF4-FFF2-40B4-BE49-F238E27FC236}">
                <a16:creationId xmlns:a16="http://schemas.microsoft.com/office/drawing/2014/main" id="{41AF92AE-739E-4A67-8BCF-4F7DE814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4" name="loop-node-0">
            <a:extLst xmlns:a="http://schemas.openxmlformats.org/drawingml/2006/main">
              <a:ext uri="{FF2B5EF4-FFF2-40B4-BE49-F238E27FC236}">
                <a16:creationId xmlns:a16="http://schemas.microsoft.com/office/drawing/2014/main" id="{328CA8C9-B5F1-4EBB-879D-A5F769D5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op-number-0">
            <a:extLst xmlns:a="http://schemas.openxmlformats.org/drawingml/2006/main">
              <a:ext uri="{FF2B5EF4-FFF2-40B4-BE49-F238E27FC236}">
                <a16:creationId xmlns:a16="http://schemas.microsoft.com/office/drawing/2014/main" id="{10C26D9F-D3CF-4D29-A58B-25989540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loop-en-0">
            <a:extLst xmlns:a="http://schemas.openxmlformats.org/drawingml/2006/main">
              <a:ext uri="{FF2B5EF4-FFF2-40B4-BE49-F238E27FC236}">
                <a16:creationId xmlns:a16="http://schemas.microsoft.com/office/drawing/2014/main" id="{4FDAEAE6-77FD-4BA6-9185-929AEDC8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7" name="loop-tr-0">
            <a:extLst xmlns:a="http://schemas.openxmlformats.org/drawingml/2006/main">
              <a:ext uri="{FF2B5EF4-FFF2-40B4-BE49-F238E27FC236}">
                <a16:creationId xmlns:a16="http://schemas.microsoft.com/office/drawing/2014/main" id="{A8E4D5F9-6744-4F35-A21D-816494D8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ÖĞREN</a:t>
            </a:r>
          </a:p>
        </p:txBody>
      </p:sp>
      <p:sp>
        <p:nvSpPr>
          <p:cNvPr id="8" name="loop-ru-0">
            <a:extLst xmlns:a="http://schemas.openxmlformats.org/drawingml/2006/main">
              <a:ext uri="{FF2B5EF4-FFF2-40B4-BE49-F238E27FC236}">
                <a16:creationId xmlns:a16="http://schemas.microsoft.com/office/drawing/2014/main" id="{D50420C9-96DD-4460-8475-B28594C8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УЧИТЬ</a:t>
            </a:r>
          </a:p>
        </p:txBody>
      </p:sp>
      <p:sp>
        <p:nvSpPr>
          <p:cNvPr id="9" name="loop-detail-0">
            <a:extLst xmlns:a="http://schemas.openxmlformats.org/drawingml/2006/main">
              <a:ext uri="{FF2B5EF4-FFF2-40B4-BE49-F238E27FC236}">
                <a16:creationId xmlns:a16="http://schemas.microsoft.com/office/drawing/2014/main" id="{4D98F70D-36E8-46CE-AB61-C05BBF41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Words • Dictionary • Cyrillic • Grammar</a:t>
            </a:r>
          </a:p>
        </p:txBody>
      </p:sp>
      <p:sp>
        <p:nvSpPr>
          <p:cNvPr id="10" name="loop-node-1">
            <a:extLst xmlns:a="http://schemas.openxmlformats.org/drawingml/2006/main">
              <a:ext uri="{FF2B5EF4-FFF2-40B4-BE49-F238E27FC236}">
                <a16:creationId xmlns:a16="http://schemas.microsoft.com/office/drawing/2014/main" id="{73F9E0C6-DCF5-49B2-B79D-E54D5F4E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oop-number-1">
            <a:extLst xmlns:a="http://schemas.openxmlformats.org/drawingml/2006/main">
              <a:ext uri="{FF2B5EF4-FFF2-40B4-BE49-F238E27FC236}">
                <a16:creationId xmlns:a16="http://schemas.microsoft.com/office/drawing/2014/main" id="{6ABEDDD7-6ABC-4CDB-BE95-953A676C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loop-en-1">
            <a:extLst xmlns:a="http://schemas.openxmlformats.org/drawingml/2006/main">
              <a:ext uri="{FF2B5EF4-FFF2-40B4-BE49-F238E27FC236}">
                <a16:creationId xmlns:a16="http://schemas.microsoft.com/office/drawing/2014/main" id="{2F9410C4-4790-49CD-8373-39DBF107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PRACTICE</a:t>
            </a:r>
          </a:p>
        </p:txBody>
      </p:sp>
      <p:sp>
        <p:nvSpPr>
          <p:cNvPr id="13" name="loop-tr-1">
            <a:extLst xmlns:a="http://schemas.openxmlformats.org/drawingml/2006/main">
              <a:ext uri="{FF2B5EF4-FFF2-40B4-BE49-F238E27FC236}">
                <a16:creationId xmlns:a16="http://schemas.microsoft.com/office/drawing/2014/main" id="{D912D048-4DF8-42AA-89C4-40BD6385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PRATİK</a:t>
            </a:r>
          </a:p>
        </p:txBody>
      </p:sp>
      <p:sp>
        <p:nvSpPr>
          <p:cNvPr id="14" name="loop-ru-1">
            <a:extLst xmlns:a="http://schemas.openxmlformats.org/drawingml/2006/main">
              <a:ext uri="{FF2B5EF4-FFF2-40B4-BE49-F238E27FC236}">
                <a16:creationId xmlns:a16="http://schemas.microsoft.com/office/drawing/2014/main" id="{199A4BA2-D2A6-4CC8-BA8F-AF67D317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ПРАКТИКА</a:t>
            </a:r>
          </a:p>
        </p:txBody>
      </p:sp>
      <p:sp>
        <p:nvSpPr>
          <p:cNvPr id="15" name="loop-detail-1">
            <a:extLst xmlns:a="http://schemas.openxmlformats.org/drawingml/2006/main">
              <a:ext uri="{FF2B5EF4-FFF2-40B4-BE49-F238E27FC236}">
                <a16:creationId xmlns:a16="http://schemas.microsoft.com/office/drawing/2014/main" id="{7CAD2093-B90E-4BCD-8B51-507FC38D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Speaking • Writing • Pronunciation</a:t>
            </a:r>
          </a:p>
        </p:txBody>
      </p:sp>
      <p:sp>
        <p:nvSpPr>
          <p:cNvPr id="16" name="loop-node-2">
            <a:extLst xmlns:a="http://schemas.openxmlformats.org/drawingml/2006/main">
              <a:ext uri="{FF2B5EF4-FFF2-40B4-BE49-F238E27FC236}">
                <a16:creationId xmlns:a16="http://schemas.microsoft.com/office/drawing/2014/main" id="{B4C0A50F-6C67-4776-B844-A2C4B5CE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loop-number-2">
            <a:extLst xmlns:a="http://schemas.openxmlformats.org/drawingml/2006/main">
              <a:ext uri="{FF2B5EF4-FFF2-40B4-BE49-F238E27FC236}">
                <a16:creationId xmlns:a16="http://schemas.microsoft.com/office/drawing/2014/main" id="{67A6C658-EB50-49A8-AFD2-5213E3A2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loop-en-2">
            <a:extLst xmlns:a="http://schemas.openxmlformats.org/drawingml/2006/main">
              <a:ext uri="{FF2B5EF4-FFF2-40B4-BE49-F238E27FC236}">
                <a16:creationId xmlns:a16="http://schemas.microsoft.com/office/drawing/2014/main" id="{93CF2418-761D-4B40-ACD6-456220EE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9" name="loop-tr-2">
            <a:extLst xmlns:a="http://schemas.openxmlformats.org/drawingml/2006/main">
              <a:ext uri="{FF2B5EF4-FFF2-40B4-BE49-F238E27FC236}">
                <a16:creationId xmlns:a16="http://schemas.microsoft.com/office/drawing/2014/main" id="{0C0E3AA2-5137-4C02-B0B5-8F9F5268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TEKRAR</a:t>
            </a:r>
          </a:p>
        </p:txBody>
      </p:sp>
      <p:sp>
        <p:nvSpPr>
          <p:cNvPr id="20" name="loop-ru-2">
            <a:extLst xmlns:a="http://schemas.openxmlformats.org/drawingml/2006/main">
              <a:ext uri="{FF2B5EF4-FFF2-40B4-BE49-F238E27FC236}">
                <a16:creationId xmlns:a16="http://schemas.microsoft.com/office/drawing/2014/main" id="{FE6E880C-89D9-4389-9776-79D635BA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ПОВТОРЕНИЕ</a:t>
            </a:r>
          </a:p>
        </p:txBody>
      </p:sp>
      <p:sp>
        <p:nvSpPr>
          <p:cNvPr id="21" name="loop-detail-2">
            <a:extLst xmlns:a="http://schemas.openxmlformats.org/drawingml/2006/main">
              <a:ext uri="{FF2B5EF4-FFF2-40B4-BE49-F238E27FC236}">
                <a16:creationId xmlns:a16="http://schemas.microsoft.com/office/drawing/2014/main" id="{AC3B797C-9A4C-42C3-82C0-FF51CC3E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Spaced review • Exams • Progress</a:t>
            </a:r>
          </a:p>
        </p:txBody>
      </p:sp>
      <p:sp>
        <p:nvSpPr>
          <p:cNvPr id="22" name="footer-4">
            <a:extLst xmlns:a="http://schemas.openxmlformats.org/drawingml/2006/main">
              <a:ext uri="{FF2B5EF4-FFF2-40B4-BE49-F238E27FC236}">
                <a16:creationId xmlns:a16="http://schemas.microsoft.com/office/drawing/2014/main" id="{22A91630-83D1-4464-8D4F-FF5E46A0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844645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DEF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eadth-title">
            <a:extLst xmlns:a="http://schemas.openxmlformats.org/drawingml/2006/main">
              <a:ext uri="{FF2B5EF4-FFF2-40B4-BE49-F238E27FC236}">
                <a16:creationId xmlns:a16="http://schemas.microsoft.com/office/drawing/2014/main" id="{E7DE5AD0-C9E9-434B-9054-E8431E32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More than flashcards</a:t>
            </a:r>
          </a:p>
        </p:txBody>
      </p:sp>
      <p:sp>
        <p:nvSpPr>
          <p:cNvPr id="2" name="breadth-triple">
            <a:extLst xmlns:a="http://schemas.openxmlformats.org/drawingml/2006/main">
              <a:ext uri="{FF2B5EF4-FFF2-40B4-BE49-F238E27FC236}">
                <a16:creationId xmlns:a16="http://schemas.microsoft.com/office/drawing/2014/main" id="{F177C646-B8E9-46BD-B124-2F3E93B8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Kelime kartlarından fazlası  •  Больше, чем карточки</a:t>
            </a:r>
          </a:p>
        </p:txBody>
      </p:sp>
      <p:sp>
        <p:nvSpPr>
          <p:cNvPr id="3" name="breadth-number">
            <a:extLst xmlns:a="http://schemas.openxmlformats.org/drawingml/2006/main">
              <a:ext uri="{FF2B5EF4-FFF2-40B4-BE49-F238E27FC236}">
                <a16:creationId xmlns:a16="http://schemas.microsoft.com/office/drawing/2014/main" id="{6C042AEB-8813-42E1-8EF4-8345D0B6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62150"/>
            <a:ext cx="342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breadth-caption">
            <a:extLst xmlns:a="http://schemas.openxmlformats.org/drawingml/2006/main">
              <a:ext uri="{FF2B5EF4-FFF2-40B4-BE49-F238E27FC236}">
                <a16:creationId xmlns:a16="http://schemas.microsoft.com/office/drawing/2014/main" id="{EEB6E91C-C56C-4C29-943D-D48818D9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48150"/>
            <a:ext cx="4000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focused workspaces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odaklı çalışma alanı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специализированных разделов</a:t>
            </a:r>
          </a:p>
        </p:txBody>
      </p:sp>
      <p:sp>
        <p:nvSpPr>
          <p:cNvPr id="5" name="breadth-divider">
            <a:extLst xmlns:a="http://schemas.openxmlformats.org/drawingml/2006/main">
              <a:ext uri="{FF2B5EF4-FFF2-40B4-BE49-F238E27FC236}">
                <a16:creationId xmlns:a16="http://schemas.microsoft.com/office/drawing/2014/main" id="{275C93CB-8993-44BA-9C6D-6F2BC031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90700"/>
            <a:ext cx="0" cy="394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breadth-item-rule-0">
            <a:extLst xmlns:a="http://schemas.openxmlformats.org/drawingml/2006/main">
              <a:ext uri="{FF2B5EF4-FFF2-40B4-BE49-F238E27FC236}">
                <a16:creationId xmlns:a16="http://schemas.microsoft.com/office/drawing/2014/main" id="{783B1347-13ED-4F19-80DF-9E887DC6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479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breadth-item-0">
            <a:extLst xmlns:a="http://schemas.openxmlformats.org/drawingml/2006/main">
              <a:ext uri="{FF2B5EF4-FFF2-40B4-BE49-F238E27FC236}">
                <a16:creationId xmlns:a16="http://schemas.microsoft.com/office/drawing/2014/main" id="{011E58CE-75BE-44C2-8B55-085E358D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240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RU-EN-TR dictionary · Yön seçimli sözlük · Словарь RU-EN-TR</a:t>
            </a:r>
          </a:p>
        </p:txBody>
      </p:sp>
      <p:sp>
        <p:nvSpPr>
          <p:cNvPr id="8" name="breadth-item-rule-1">
            <a:extLst xmlns:a="http://schemas.openxmlformats.org/drawingml/2006/main">
              <a:ext uri="{FF2B5EF4-FFF2-40B4-BE49-F238E27FC236}">
                <a16:creationId xmlns:a16="http://schemas.microsoft.com/office/drawing/2014/main" id="{750AC45A-F97C-45E4-8485-AD6D085B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003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breadth-item-1">
            <a:extLst xmlns:a="http://schemas.openxmlformats.org/drawingml/2006/main">
              <a:ext uri="{FF2B5EF4-FFF2-40B4-BE49-F238E27FC236}">
                <a16:creationId xmlns:a16="http://schemas.microsoft.com/office/drawing/2014/main" id="{A0E92AE3-CC32-497A-98EE-59B50775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765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Word bank &amp; grammar · Kelime bankası · Грамматика</a:t>
            </a:r>
          </a:p>
        </p:txBody>
      </p:sp>
      <p:sp>
        <p:nvSpPr>
          <p:cNvPr id="10" name="breadth-item-rule-2">
            <a:extLst xmlns:a="http://schemas.openxmlformats.org/drawingml/2006/main">
              <a:ext uri="{FF2B5EF4-FFF2-40B4-BE49-F238E27FC236}">
                <a16:creationId xmlns:a16="http://schemas.microsoft.com/office/drawing/2014/main" id="{142C5D12-8899-4845-AB96-06C6C743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528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breadth-item-2">
            <a:extLst xmlns:a="http://schemas.openxmlformats.org/drawingml/2006/main">
              <a:ext uri="{FF2B5EF4-FFF2-40B4-BE49-F238E27FC236}">
                <a16:creationId xmlns:a16="http://schemas.microsoft.com/office/drawing/2014/main" id="{B5007ED6-8F37-4CB8-B7FA-AD47EF49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289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PDF reader · PDF okuyucu · PDF-читалка</a:t>
            </a:r>
          </a:p>
        </p:txBody>
      </p:sp>
      <p:sp>
        <p:nvSpPr>
          <p:cNvPr id="12" name="breadth-item-rule-3">
            <a:extLst xmlns:a="http://schemas.openxmlformats.org/drawingml/2006/main">
              <a:ext uri="{FF2B5EF4-FFF2-40B4-BE49-F238E27FC236}">
                <a16:creationId xmlns:a16="http://schemas.microsoft.com/office/drawing/2014/main" id="{916D57C4-482C-4B0B-922D-8BFB06A5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9052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breadth-item-3">
            <a:extLst xmlns:a="http://schemas.openxmlformats.org/drawingml/2006/main">
              <a:ext uri="{FF2B5EF4-FFF2-40B4-BE49-F238E27FC236}">
                <a16:creationId xmlns:a16="http://schemas.microsoft.com/office/drawing/2014/main" id="{620466B3-7D14-4F7C-B9F7-BA898664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814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AI tutor · AI öğretmen · ИИ-преподаватель</a:t>
            </a:r>
          </a:p>
        </p:txBody>
      </p:sp>
      <p:sp>
        <p:nvSpPr>
          <p:cNvPr id="14" name="breadth-item-rule-4">
            <a:extLst xmlns:a="http://schemas.openxmlformats.org/drawingml/2006/main">
              <a:ext uri="{FF2B5EF4-FFF2-40B4-BE49-F238E27FC236}">
                <a16:creationId xmlns:a16="http://schemas.microsoft.com/office/drawing/2014/main" id="{D57290A5-9F20-4180-91D2-9FF36F92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577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5" name="breadth-item-4">
            <a:extLst xmlns:a="http://schemas.openxmlformats.org/drawingml/2006/main">
              <a:ext uri="{FF2B5EF4-FFF2-40B4-BE49-F238E27FC236}">
                <a16:creationId xmlns:a16="http://schemas.microsoft.com/office/drawing/2014/main" id="{7C77CCAB-CD28-4A92-91C7-82AD9F3A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338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Speaking, handwriting, exams, progress</a:t>
            </a:r>
          </a:p>
        </p:txBody>
      </p:sp>
      <p:sp>
        <p:nvSpPr>
          <p:cNvPr id="16" name="breadth-item-rule-5">
            <a:extLst xmlns:a="http://schemas.openxmlformats.org/drawingml/2006/main">
              <a:ext uri="{FF2B5EF4-FFF2-40B4-BE49-F238E27FC236}">
                <a16:creationId xmlns:a16="http://schemas.microsoft.com/office/drawing/2014/main" id="{02A7F13B-1F38-44E3-A437-9AE7D1FC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01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7" name="breadth-item-5">
            <a:extLst xmlns:a="http://schemas.openxmlformats.org/drawingml/2006/main">
              <a:ext uri="{FF2B5EF4-FFF2-40B4-BE49-F238E27FC236}">
                <a16:creationId xmlns:a16="http://schemas.microsoft.com/office/drawing/2014/main" id="{EC62A66E-4A0F-463D-93DC-39577491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863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Konuşma, el yazısı, sınav, ilerleme</a:t>
            </a:r>
          </a:p>
        </p:txBody>
      </p:sp>
      <p:sp>
        <p:nvSpPr>
          <p:cNvPr id="18" name="breadth-item-rule-6">
            <a:extLst xmlns:a="http://schemas.openxmlformats.org/drawingml/2006/main">
              <a:ext uri="{FF2B5EF4-FFF2-40B4-BE49-F238E27FC236}">
                <a16:creationId xmlns:a16="http://schemas.microsoft.com/office/drawing/2014/main" id="{A7A469E2-601F-4E45-A27C-27771558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626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9" name="breadth-item-6">
            <a:extLst xmlns:a="http://schemas.openxmlformats.org/drawingml/2006/main">
              <a:ext uri="{FF2B5EF4-FFF2-40B4-BE49-F238E27FC236}">
                <a16:creationId xmlns:a16="http://schemas.microsoft.com/office/drawing/2014/main" id="{78F4F6D7-01B3-4950-9F7A-52FA9951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387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Разговор, почерк, экзамены, прогресс</a:t>
            </a:r>
          </a:p>
        </p:txBody>
      </p:sp>
      <p:sp>
        <p:nvSpPr>
          <p:cNvPr id="20" name="footer-5">
            <a:extLst xmlns:a="http://schemas.openxmlformats.org/drawingml/2006/main">
              <a:ext uri="{FF2B5EF4-FFF2-40B4-BE49-F238E27FC236}">
                <a16:creationId xmlns:a16="http://schemas.microsoft.com/office/drawing/2014/main" id="{AAE5BDA5-222C-487B-828E-65E4CD04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652399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rivacy-title">
            <a:extLst xmlns:a="http://schemas.openxmlformats.org/drawingml/2006/main">
              <a:ext uri="{FF2B5EF4-FFF2-40B4-BE49-F238E27FC236}">
                <a16:creationId xmlns:a16="http://schemas.microsoft.com/office/drawing/2014/main" id="{B49D655E-3CE5-476A-A95C-C79F9CCE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Private by default. Flexible when needed.</a:t>
            </a:r>
          </a:p>
        </p:txBody>
      </p:sp>
      <p:sp>
        <p:nvSpPr>
          <p:cNvPr id="2" name="privacy-tr">
            <a:extLst xmlns:a="http://schemas.openxmlformats.org/drawingml/2006/main">
              <a:ext uri="{FF2B5EF4-FFF2-40B4-BE49-F238E27FC236}">
                <a16:creationId xmlns:a16="http://schemas.microsoft.com/office/drawing/2014/main" id="{2AED3D55-1052-4E2D-976E-6B2F69FD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96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Varsayılan olarak özel. Gerektiğinde esnek.</a:t>
            </a:r>
          </a:p>
        </p:txBody>
      </p:sp>
      <p:sp>
        <p:nvSpPr>
          <p:cNvPr id="3" name="privacy-ru">
            <a:extLst xmlns:a="http://schemas.openxmlformats.org/drawingml/2006/main">
              <a:ext uri="{FF2B5EF4-FFF2-40B4-BE49-F238E27FC236}">
                <a16:creationId xmlns:a16="http://schemas.microsoft.com/office/drawing/2014/main" id="{17E181D8-C2FC-4E73-A15A-BEDCEF31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335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Конфиденциальность по умолчанию. Гибкость при необходимости.</a:t>
            </a:r>
          </a:p>
        </p:txBody>
      </p:sp>
      <p:sp>
        <p:nvSpPr>
          <p:cNvPr id="4" name="privacy-divider">
            <a:extLst xmlns:a="http://schemas.openxmlformats.org/drawingml/2006/main">
              <a:ext uri="{FF2B5EF4-FFF2-40B4-BE49-F238E27FC236}">
                <a16:creationId xmlns:a16="http://schemas.microsoft.com/office/drawing/2014/main" id="{CE75F439-EECC-47AC-AF66-966DC7C4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local-label">
            <a:extLst xmlns:a="http://schemas.openxmlformats.org/drawingml/2006/main">
              <a:ext uri="{FF2B5EF4-FFF2-40B4-BE49-F238E27FC236}">
                <a16:creationId xmlns:a16="http://schemas.microsoft.com/office/drawing/2014/main" id="{D29C8FDB-A787-4B18-AF0E-D1854031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LOCAL CORE</a:t>
            </a:r>
          </a:p>
        </p:txBody>
      </p:sp>
      <p:sp>
        <p:nvSpPr>
          <p:cNvPr id="6" name="local-head">
            <a:extLst xmlns:a="http://schemas.openxmlformats.org/drawingml/2006/main">
              <a:ext uri="{FF2B5EF4-FFF2-40B4-BE49-F238E27FC236}">
                <a16:creationId xmlns:a16="http://schemas.microsoft.com/office/drawing/2014/main" id="{BBA0DE8D-0664-4220-AFA6-BD030256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Study data stays on your machine</a:t>
            </a:r>
          </a:p>
        </p:txBody>
      </p:sp>
      <p:sp>
        <p:nvSpPr>
          <p:cNvPr id="7" name="local-copy">
            <a:extLst xmlns:a="http://schemas.openxmlformats.org/drawingml/2006/main">
              <a:ext uri="{FF2B5EF4-FFF2-40B4-BE49-F238E27FC236}">
                <a16:creationId xmlns:a16="http://schemas.microsoft.com/office/drawing/2014/main" id="{E790F1DC-9709-46A1-9F28-F4AE5E2C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İlerleme SQLite içinde yerel saklanır.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Sözlük ve AI öğretmen LM Studio ile yerelde çalışır.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Прогресс хранится локально в SQLite.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Словарь и ИИ работают локально через LM Studio.</a:t>
            </a:r>
          </a:p>
        </p:txBody>
      </p:sp>
      <p:sp>
        <p:nvSpPr>
          <p:cNvPr id="8" name="optional-label">
            <a:extLst xmlns:a="http://schemas.openxmlformats.org/drawingml/2006/main">
              <a:ext uri="{FF2B5EF4-FFF2-40B4-BE49-F238E27FC236}">
                <a16:creationId xmlns:a16="http://schemas.microsoft.com/office/drawing/2014/main" id="{3D520B19-34BC-409F-8FAD-6F8C2A48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OPTIONAL NETWORK</a:t>
            </a:r>
          </a:p>
        </p:txBody>
      </p:sp>
      <p:sp>
        <p:nvSpPr>
          <p:cNvPr id="9" name="optional-head">
            <a:extLst xmlns:a="http://schemas.openxmlformats.org/drawingml/2006/main">
              <a:ext uri="{FF2B5EF4-FFF2-40B4-BE49-F238E27FC236}">
                <a16:creationId xmlns:a16="http://schemas.microsoft.com/office/drawing/2014/main" id="{51AE1C17-E188-4EB6-A503-7DE3F1E1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Online features activate only by choice</a:t>
            </a:r>
          </a:p>
        </p:txBody>
      </p:sp>
      <p:sp>
        <p:nvSpPr>
          <p:cNvPr id="10" name="optional-copy">
            <a:extLst xmlns:a="http://schemas.openxmlformats.org/drawingml/2006/main">
              <a:ext uri="{FF2B5EF4-FFF2-40B4-BE49-F238E27FC236}">
                <a16:creationId xmlns:a16="http://schemas.microsoft.com/office/drawing/2014/main" id="{A04112A6-5B0F-43E6-96BC-DEAA0C20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Kaynak indirmeleri ve alternatif AI ucu (NVIDIA NIM / özel OpenAI uyumlu URL) internet kullanır; anahtar Credential Manager'da.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Core learning remains available without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Загрузки и альтернативный ИИ-узел (NVIDIA NIM) используют интернет.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Основное обучение доступно и без них.</a:t>
            </a:r>
          </a:p>
        </p:txBody>
      </p:sp>
      <p:sp>
        <p:nvSpPr>
          <p:cNvPr id="11" name="footer-6">
            <a:extLst xmlns:a="http://schemas.openxmlformats.org/drawingml/2006/main">
              <a:ext uri="{FF2B5EF4-FFF2-40B4-BE49-F238E27FC236}">
                <a16:creationId xmlns:a16="http://schemas.microsoft.com/office/drawing/2014/main" id="{9D809B61-AE57-4578-809A-D1141860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334004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platform-title">
            <a:extLst xmlns:a="http://schemas.openxmlformats.org/drawingml/2006/main">
              <a:ext uri="{FF2B5EF4-FFF2-40B4-BE49-F238E27FC236}">
                <a16:creationId xmlns:a16="http://schemas.microsoft.com/office/drawing/2014/main" id="{0C7F580A-F0B4-4860-AF8E-D082B8FA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Platforms &amp; Download</a:t>
            </a:r>
          </a:p>
        </p:txBody>
      </p:sp>
      <p:sp>
        <p:nvSpPr>
          <p:cNvPr id="2" name="platform-subtitle">
            <a:extLst xmlns:a="http://schemas.openxmlformats.org/drawingml/2006/main">
              <a:ext uri="{FF2B5EF4-FFF2-40B4-BE49-F238E27FC236}">
                <a16:creationId xmlns:a16="http://schemas.microsoft.com/office/drawing/2014/main" id="{C0658339-5ED9-4D77-A71F-6083170D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Platformlar &amp; İndirme  •  Платформы и загрузка</a:t>
            </a:r>
          </a:p>
        </p:txBody>
      </p:sp>
      <p:sp>
        <p:nvSpPr>
          <p:cNvPr id="3" name="platform-rule">
            <a:extLst xmlns:a="http://schemas.openxmlformats.org/drawingml/2006/main">
              <a:ext uri="{FF2B5EF4-FFF2-40B4-BE49-F238E27FC236}">
                <a16:creationId xmlns:a16="http://schemas.microsoft.com/office/drawing/2014/main" id="{4E34B50D-89DD-4D88-B70E-9073EEF3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platform-label-0">
            <a:extLst xmlns:a="http://schemas.openxmlformats.org/drawingml/2006/main">
              <a:ext uri="{FF2B5EF4-FFF2-40B4-BE49-F238E27FC236}">
                <a16:creationId xmlns:a16="http://schemas.microsoft.com/office/drawing/2014/main" id="{6CD9EB28-D697-4612-A4B4-07675EE7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platform-body-0">
            <a:extLst xmlns:a="http://schemas.openxmlformats.org/drawingml/2006/main">
              <a:ext uri="{FF2B5EF4-FFF2-40B4-BE49-F238E27FC236}">
                <a16:creationId xmlns:a16="http://schemas.microsoft.com/office/drawing/2014/main" id="{63BC6DF8-8C62-4C39-B588-4832BAD3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github.com/Azizsekerdil/RussianCourseAI/releases (v1.3.0)</a:t>
            </a:r>
          </a:p>
        </p:txBody>
      </p:sp>
      <p:sp>
        <p:nvSpPr>
          <p:cNvPr id="6" name="platform-label-1">
            <a:extLst xmlns:a="http://schemas.openxmlformats.org/drawingml/2006/main">
              <a:ext uri="{FF2B5EF4-FFF2-40B4-BE49-F238E27FC236}">
                <a16:creationId xmlns:a16="http://schemas.microsoft.com/office/drawing/2014/main" id="{E81DE326-5348-47B7-975A-053DC6CC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00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7" name="platform-body-1">
            <a:extLst xmlns:a="http://schemas.openxmlformats.org/drawingml/2006/main">
              <a:ext uri="{FF2B5EF4-FFF2-40B4-BE49-F238E27FC236}">
                <a16:creationId xmlns:a16="http://schemas.microsoft.com/office/drawing/2014/main" id="{74498948-A64F-47D8-82C8-0413412A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671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(v1.3.0)</a:t>
            </a:r>
          </a:p>
        </p:txBody>
      </p:sp>
      <p:sp>
        <p:nvSpPr>
          <p:cNvPr id="8" name="platform-label-2">
            <a:extLst xmlns:a="http://schemas.openxmlformats.org/drawingml/2006/main">
              <a:ext uri="{FF2B5EF4-FFF2-40B4-BE49-F238E27FC236}">
                <a16:creationId xmlns:a16="http://schemas.microsoft.com/office/drawing/2014/main" id="{350906DC-495B-4EEC-9B59-BE60152DA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9" name="platform-body-2">
            <a:extLst xmlns:a="http://schemas.openxmlformats.org/drawingml/2006/main">
              <a:ext uri="{FF2B5EF4-FFF2-40B4-BE49-F238E27FC236}">
                <a16:creationId xmlns:a16="http://schemas.microsoft.com/office/drawing/2014/main" id="{8061EE31-64CA-49A1-AFA0-8574F2186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577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и macOS (Apple Silicon) — Загрузка: GitHub Releases (v1.3.0)</a:t>
            </a:r>
          </a:p>
        </p:txBody>
      </p:sp>
      <p:sp>
        <p:nvSpPr>
          <p:cNvPr id="10" name="platform-footnote-rule">
            <a:extLst xmlns:a="http://schemas.openxmlformats.org/drawingml/2006/main">
              <a:ext uri="{FF2B5EF4-FFF2-40B4-BE49-F238E27FC236}">
                <a16:creationId xmlns:a16="http://schemas.microsoft.com/office/drawing/2014/main" id="{0CE5BCC8-39E9-4D85-97ED-3BA5DB09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95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platform-footnote">
            <a:extLst xmlns:a="http://schemas.openxmlformats.org/drawingml/2006/main">
              <a:ext uri="{FF2B5EF4-FFF2-40B4-BE49-F238E27FC236}">
                <a16:creationId xmlns:a16="http://schemas.microsoft.com/office/drawing/2014/main" id="{734568D1-1BE9-4B8B-8903-EC814A95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864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Release v1.3.0 — iki paket: Windows zip + macOS zip. macOS paketi Apple Silicon (arm64) içindir ve notarize edilmemiştir; ilk açılışta sağ tık → Aç.</a:t>
            </a:r>
          </a:p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Her iki paketin içinde LICENSE ve THIRD_PARTY_NOTICES.md bulunur; proje MIT lisanslıdır — github.com/Azizsekerdil/RussianCourseAI</a:t>
            </a:r>
          </a:p>
        </p:txBody>
      </p:sp>
      <p:sp>
        <p:nvSpPr>
          <p:cNvPr id="12" name="footer-7">
            <a:extLst xmlns:a="http://schemas.openxmlformats.org/drawingml/2006/main">
              <a:ext uri="{FF2B5EF4-FFF2-40B4-BE49-F238E27FC236}">
                <a16:creationId xmlns:a16="http://schemas.microsoft.com/office/drawing/2014/main" id="{3388BAA9-E78E-4C4E-A2C1-EC40B59DA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353683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12AA3DC4-6C78-41B9-BBBC-60F4B8B4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START YOUR NEXT SESSION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B00D469B-B985-402C-B1AB-74D308CC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Build a Russian routine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that belongs to you.</a:t>
            </a:r>
          </a:p>
        </p:txBody>
      </p:sp>
      <p:sp>
        <p:nvSpPr>
          <p:cNvPr id="3" name="close-tr">
            <a:extLst xmlns:a="http://schemas.openxmlformats.org/drawingml/2006/main">
              <a:ext uri="{FF2B5EF4-FFF2-40B4-BE49-F238E27FC236}">
                <a16:creationId xmlns:a16="http://schemas.microsoft.com/office/drawing/2014/main" id="{BE139CA4-5969-48D1-A552-0F517B90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Size ait bir Rusça rutini oluşturun.</a:t>
            </a:r>
          </a:p>
        </p:txBody>
      </p:sp>
      <p:sp>
        <p:nvSpPr>
          <p:cNvPr id="4" name="close-ru">
            <a:extLst xmlns:a="http://schemas.openxmlformats.org/drawingml/2006/main">
              <a:ext uri="{FF2B5EF4-FFF2-40B4-BE49-F238E27FC236}">
                <a16:creationId xmlns:a16="http://schemas.microsoft.com/office/drawing/2014/main" id="{16F3D582-D3CD-493F-95D7-E700A5AD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006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Создайте свой ритм изучения русского.</a:t>
            </a:r>
          </a:p>
        </p:txBody>
      </p:sp>
      <p:sp>
        <p:nvSpPr>
          <p:cNvPr id="5" name="close-rule">
            <a:extLst xmlns:a="http://schemas.openxmlformats.org/drawingml/2006/main">
              <a:ext uri="{FF2B5EF4-FFF2-40B4-BE49-F238E27FC236}">
                <a16:creationId xmlns:a16="http://schemas.microsoft.com/office/drawing/2014/main" id="{1B2472C1-04DB-4789-8D4C-8C1BBB25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close-action">
            <a:extLst xmlns:a="http://schemas.openxmlformats.org/drawingml/2006/main">
              <a:ext uri="{FF2B5EF4-FFF2-40B4-BE49-F238E27FC236}">
                <a16:creationId xmlns:a16="http://schemas.microsoft.com/office/drawing/2014/main" id="{EF833B40-A80F-4C15-8A61-8938F632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INSTALL  •  LEARN  •  REVIEW</a:t>
            </a:r>
          </a:p>
        </p:txBody>
      </p:sp>
      <p:sp>
        <p:nvSpPr>
          <p:cNvPr id="7" name="close-meta">
            <a:extLst xmlns:a="http://schemas.openxmlformats.org/drawingml/2006/main">
              <a:ext uri="{FF2B5EF4-FFF2-40B4-BE49-F238E27FC236}">
                <a16:creationId xmlns:a16="http://schemas.microsoft.com/office/drawing/2014/main" id="{4BD92973-3B4B-49FF-81D0-CFDEE815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483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+ macOS  •  A1-C1  •  TR / EN / RU</a:t>
            </a:r>
          </a:p>
        </p:txBody>
      </p:sp>
      <p:sp>
        <p:nvSpPr>
          <p:cNvPr id="8" name="footer-8">
            <a:extLst xmlns:a="http://schemas.openxmlformats.org/drawingml/2006/main">
              <a:ext uri="{FF2B5EF4-FFF2-40B4-BE49-F238E27FC236}">
                <a16:creationId xmlns:a16="http://schemas.microsoft.com/office/drawing/2014/main" id="{7AE275CC-A5E6-459C-9B89-14351162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186174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2026-09-08T06:38:42.0200000Z</dcterms:created>
  <dcterms:modified xsi:type="dcterms:W3CDTF">2026-09-08T06:38:42.0200000Z</dcterms:modified>
</coreProperties>
</file>