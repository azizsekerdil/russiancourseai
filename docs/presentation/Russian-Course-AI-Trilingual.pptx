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0f1d385f8414e27" /><Relationship Type="http://schemas.openxmlformats.org/officeDocument/2006/relationships/extended-properties" Target="/docProps/app.xml" Id="Rd5ce8b24c4ca495e" /><Relationship Type="http://schemas.openxmlformats.org/officeDocument/2006/relationships/officeDocument" Target="/ppt/presentation.xml" Id="R7e57978a730143c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664efd07f814b73"/>
  </p:sldMasterIdLst>
  <p:notesMasterIdLst>
    <p:notesMasterId xmlns:r="http://schemas.openxmlformats.org/officeDocument/2006/relationships" r:id="R968355976f94430f"/>
  </p:notesMasterIdLst>
  <p:sldIdLst>
    <p:sldId xmlns:r="http://schemas.openxmlformats.org/officeDocument/2006/relationships" id="256" r:id="R4df127e5a9d74a27"/>
    <p:sldId xmlns:r="http://schemas.openxmlformats.org/officeDocument/2006/relationships" id="257" r:id="Rf8895ee476cc46ac"/>
    <p:sldId xmlns:r="http://schemas.openxmlformats.org/officeDocument/2006/relationships" id="258" r:id="Rb824058817ca4224"/>
    <p:sldId xmlns:r="http://schemas.openxmlformats.org/officeDocument/2006/relationships" id="259" r:id="R49b72196cfde4cf3"/>
    <p:sldId xmlns:r="http://schemas.openxmlformats.org/officeDocument/2006/relationships" id="260" r:id="R391e3edd6cf74ef4"/>
    <p:sldId xmlns:r="http://schemas.openxmlformats.org/officeDocument/2006/relationships" id="261" r:id="Re49672be77cc4a57"/>
    <p:sldId xmlns:r="http://schemas.openxmlformats.org/officeDocument/2006/relationships" id="262" r:id="R7f0f8c17acde48d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01006b0dce94526" /><Relationship Type="http://schemas.openxmlformats.org/officeDocument/2006/relationships/slideMaster" Target="/ppt/slideMasters/slideMaster1.xml" Id="Re664efd07f814b73" /><Relationship Type="http://schemas.openxmlformats.org/officeDocument/2006/relationships/notesMaster" Target="/ppt/notesMasters/notesMaster1.xml" Id="R968355976f94430f" /><Relationship Type="http://schemas.openxmlformats.org/officeDocument/2006/relationships/presProps" Target="/ppt/presProps.xml" Id="R38249bb1628f4c79" /><Relationship Type="http://schemas.openxmlformats.org/officeDocument/2006/relationships/tableStyles" Target="/ppt/tableStyles.xml" Id="Rbdfe15f38f184c8f" /><Relationship Type="http://schemas.openxmlformats.org/officeDocument/2006/relationships/slide" Target="/ppt/slides/slide1.xml" Id="R4df127e5a9d74a27" /><Relationship Type="http://schemas.openxmlformats.org/officeDocument/2006/relationships/slide" Target="/ppt/slides/slide2.xml" Id="Rf8895ee476cc46ac" /><Relationship Type="http://schemas.openxmlformats.org/officeDocument/2006/relationships/slide" Target="/ppt/slides/slide3.xml" Id="Rb824058817ca4224" /><Relationship Type="http://schemas.openxmlformats.org/officeDocument/2006/relationships/slide" Target="/ppt/slides/slide4.xml" Id="R49b72196cfde4cf3" /><Relationship Type="http://schemas.openxmlformats.org/officeDocument/2006/relationships/slide" Target="/ppt/slides/slide5.xml" Id="R391e3edd6cf74ef4" /><Relationship Type="http://schemas.openxmlformats.org/officeDocument/2006/relationships/slide" Target="/ppt/slides/slide6.xml" Id="Re49672be77cc4a57" /><Relationship Type="http://schemas.openxmlformats.org/officeDocument/2006/relationships/slide" Target="/ppt/slides/slide7.xml" Id="R7f0f8c17acde48d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3bad371b251430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27197dfd83d418f" /><Relationship Type="http://schemas.openxmlformats.org/officeDocument/2006/relationships/notesMaster" Target="/ppt/notesMasters/notesMaster1.xml" Id="R96fdbbe59a55443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6527e9073bb44ff" /><Relationship Type="http://schemas.openxmlformats.org/officeDocument/2006/relationships/notesMaster" Target="/ppt/notesMasters/notesMaster1.xml" Id="Rdd49d199e25944f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3d6c8b8b93f4155" /><Relationship Type="http://schemas.openxmlformats.org/officeDocument/2006/relationships/notesMaster" Target="/ppt/notesMasters/notesMaster1.xml" Id="R7f8da19d6286454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e15943490784b09" /><Relationship Type="http://schemas.openxmlformats.org/officeDocument/2006/relationships/notesMaster" Target="/ppt/notesMasters/notesMaster1.xml" Id="R3bc8341852f747c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ed2f8a9710e4954" /><Relationship Type="http://schemas.openxmlformats.org/officeDocument/2006/relationships/notesMaster" Target="/ppt/notesMasters/notesMaster1.xml" Id="Rc023600b197f4f3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1a5a2da7e98422d" /><Relationship Type="http://schemas.openxmlformats.org/officeDocument/2006/relationships/notesMaster" Target="/ppt/notesMasters/notesMaster1.xml" Id="Rfd802507d2d14da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3f1cd96b1bc4393" /><Relationship Type="http://schemas.openxmlformats.org/officeDocument/2006/relationships/notesMaster" Target="/ppt/notesMasters/notesMaster1.xml" Id="Re43ace98e94a489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D:/Russian/README.md (product positioning and supported levels)</a:t>
            </a:r>
          </a:p>
          <a:p xmlns:a="http://schemas.openxmlformats.org/drawingml/2006/main">
            <a:r>
              <a:t>- D:/Russian/docs/presentation/assets/russian-course-ai-hero.png (AI-generated original cover visual)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D:/Russian/docs/presentation/assets/russian-course-ai-screenshot.png (user-supplied product screenshot)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D:/Russian/rca/i18n.py (Turkish, English, and Russian interface catalog)</a:t>
            </a:r>
          </a:p>
          <a:p xmlns:a="http://schemas.openxmlformats.org/drawingml/2006/main">
            <a:r>
              <a:t>- D:/Russian/Russian_Course_AI.pyw (instant and persistent language switching)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D:/Russian/rca/tabs/srs_tab.py (daily review workflow and five study modes)</a:t>
            </a:r>
          </a:p>
          <a:p xmlns:a="http://schemas.openxmlformats.org/drawingml/2006/main">
            <a:r>
              <a:t>- D:/Russian/Russian_Course_AI.pyw (learning, lab, read, practice, and system navigation groups)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D:/Russian/Russian_Course_AI.pyw (17 entries in TAB_SPECS)</a:t>
            </a:r>
          </a:p>
          <a:p xmlns:a="http://schemas.openxmlformats.org/drawingml/2006/main">
            <a:r>
              <a:t>- D:/Russian/README.md (feature descriptions)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D:/Russian/README.md (local LM Studio, optional NVIDIA NIM, and Resource Center network behavior)</a:t>
            </a:r>
          </a:p>
          <a:p xmlns:a="http://schemas.openxmlformats.org/drawingml/2006/main">
            <a:r>
              <a:t>- D:/Russian/rca/db.py (SQLite persistence)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D:/Russian/README.md (installation, learning levels, and feature overview)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4fe1cf152024a8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20cf27a062f4ef1" /><Relationship Type="http://schemas.openxmlformats.org/officeDocument/2006/relationships/slideLayout" Target="/ppt/slideLayouts/slideLayout1.xml" Id="R7c9eb1f732a24ff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c9eb1f732a24ff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ee22ba329f42e3" /><Relationship Type="http://schemas.openxmlformats.org/officeDocument/2006/relationships/image" Target="/ppt/media/image.png" Id="R5be20aa6722e448d" /><Relationship Type="http://schemas.openxmlformats.org/officeDocument/2006/relationships/notesSlide" Target="/ppt/notesSlides/notesSlide1.xml" Id="R2d990594ddfc479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beb473f4f14280" /><Relationship Type="http://schemas.openxmlformats.org/officeDocument/2006/relationships/image" Target="/ppt/media/image2.png" Id="R4f64eabc3ca949bb" /><Relationship Type="http://schemas.openxmlformats.org/officeDocument/2006/relationships/notesSlide" Target="/ppt/notesSlides/notesSlide2.xml" Id="R88728a01f147400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413da8509643a3" /><Relationship Type="http://schemas.openxmlformats.org/officeDocument/2006/relationships/notesSlide" Target="/ppt/notesSlides/notesSlide3.xml" Id="R075de3e7e99f404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8adb9638bb4cdf" /><Relationship Type="http://schemas.openxmlformats.org/officeDocument/2006/relationships/notesSlide" Target="/ppt/notesSlides/notesSlide4.xml" Id="Rbfabaa026eaf46f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14465b9f354847" /><Relationship Type="http://schemas.openxmlformats.org/officeDocument/2006/relationships/notesSlide" Target="/ppt/notesSlides/notesSlide5.xml" Id="R5147ddce85c34e5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af44943e734b76" /><Relationship Type="http://schemas.openxmlformats.org/officeDocument/2006/relationships/notesSlide" Target="/ppt/notesSlides/notesSlide6.xml" Id="Rce1fd079106d411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a802af2c60419a" /><Relationship Type="http://schemas.openxmlformats.org/officeDocument/2006/relationships/notesSlide" Target="/ppt/notesSlides/notesSlide7.xml" Id="R95116ecf387d4e8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86510257-2F26-4285-9E8E-22D7B2738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DESKTOP RUSSIAN LEARNING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B26B7086-75B2-4C8C-B10B-85CB05291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Russian</a:t>
            </a:r>
          </a:p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Course AI</a:t>
            </a:r>
          </a:p>
        </p:txBody>
      </p:sp>
      <p:sp>
        <p:nvSpPr>
          <p:cNvPr id="3" name="cover-rule">
            <a:extLst xmlns:a="http://schemas.openxmlformats.org/drawingml/2006/main">
              <a:ext uri="{FF2B5EF4-FFF2-40B4-BE49-F238E27FC236}">
                <a16:creationId xmlns:a16="http://schemas.microsoft.com/office/drawing/2014/main" id="{23D9AE5F-16D2-45FB-B663-48846BFC6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121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D8DFF"/>
            </a:solidFill>
            <a:prstDash val="solid"/>
          </a:ln>
        </p:spPr>
      </p:sp>
      <p:sp>
        <p:nvSpPr>
          <p:cNvPr id="4" name="cover-tr">
            <a:extLst xmlns:a="http://schemas.openxmlformats.org/drawingml/2006/main">
              <a:ext uri="{FF2B5EF4-FFF2-40B4-BE49-F238E27FC236}">
                <a16:creationId xmlns:a16="http://schemas.microsoft.com/office/drawing/2014/main" id="{D454D454-B6F6-435C-9669-4DE43D244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432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Rusçayı tek bir odaklı uygulamada öğrenin.</a:t>
            </a:r>
          </a:p>
        </p:txBody>
      </p:sp>
      <p:sp>
        <p:nvSpPr>
          <p:cNvPr id="5" name="cover-en">
            <a:extLst xmlns:a="http://schemas.openxmlformats.org/drawingml/2006/main">
              <a:ext uri="{FF2B5EF4-FFF2-40B4-BE49-F238E27FC236}">
                <a16:creationId xmlns:a16="http://schemas.microsoft.com/office/drawing/2014/main" id="{EB4C8AB0-8E50-4089-B3DC-773226E37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957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Learn Russian in one focused desktop app.</a:t>
            </a:r>
          </a:p>
        </p:txBody>
      </p:sp>
      <p:sp>
        <p:nvSpPr>
          <p:cNvPr id="6" name="cover-ru">
            <a:extLst xmlns:a="http://schemas.openxmlformats.org/drawingml/2006/main">
              <a:ext uri="{FF2B5EF4-FFF2-40B4-BE49-F238E27FC236}">
                <a16:creationId xmlns:a16="http://schemas.microsoft.com/office/drawing/2014/main" id="{C13AF158-64C2-48D9-918A-FD3D69E5F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481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Изучайте русский в одном приложении.</a:t>
            </a:r>
          </a:p>
        </p:txBody>
      </p:sp>
      <p:sp>
        <p:nvSpPr>
          <p:cNvPr id="7" name="cover-meta">
            <a:extLst xmlns:a="http://schemas.openxmlformats.org/drawingml/2006/main">
              <a:ext uri="{FF2B5EF4-FFF2-40B4-BE49-F238E27FC236}">
                <a16:creationId xmlns:a16="http://schemas.microsoft.com/office/drawing/2014/main" id="{D73DE977-35E7-45AA-88B5-689C6F01B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533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Windows  •  A1-C1  •  Türkçe / English / Русский</a:t>
            </a:r>
          </a:p>
        </p:txBody>
      </p:sp>
      <p:sp>
        <p:nvSpPr>
          <p:cNvPr id="8" name="hero-backing">
            <a:extLst xmlns:a="http://schemas.openxmlformats.org/drawingml/2006/main">
              <a:ext uri="{FF2B5EF4-FFF2-40B4-BE49-F238E27FC236}">
                <a16:creationId xmlns:a16="http://schemas.microsoft.com/office/drawing/2014/main" id="{2CBBED24-A25C-4CA0-9AC2-B652563F3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0050"/>
            <a:ext cx="5543550" cy="5600700"/>
          </a:xfrm>
          <a:prstGeom xmlns:a="http://schemas.openxmlformats.org/drawingml/2006/main" prst="roundRect">
            <a:avLst>
              <a:gd name="adj" fmla="val 3093"/>
            </a:avLst>
          </a:prstGeom>
          <a:solidFill xmlns:a="http://schemas.openxmlformats.org/drawingml/2006/main">
            <a:srgbClr val="0F152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e20aa6722e448d"/>
          <a:srcRect xmlns:a="http://schemas.openxmlformats.org/drawingml/2006/main" l="510" t="0" r="51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67450" y="400050"/>
            <a:ext cx="5543550" cy="5600700"/>
          </a:xfrm>
          <a:prstGeom xmlns:a="http://schemas.openxmlformats.org/drawingml/2006/main" prst="roundRect">
            <a:avLst>
              <a:gd name="adj" fmla="val 3093"/>
            </a:avLst>
          </a:prstGeom>
        </p:spPr>
      </p:pic>
      <p:sp>
        <p:nvSpPr>
          <p:cNvPr id="10" name="footer-1">
            <a:extLst xmlns:a="http://schemas.openxmlformats.org/drawingml/2006/main">
              <a:ext uri="{FF2B5EF4-FFF2-40B4-BE49-F238E27FC236}">
                <a16:creationId xmlns:a16="http://schemas.microsoft.com/office/drawing/2014/main" id="{0D109E68-F875-4797-AF0B-2B6976402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1467590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F152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creen-title">
            <a:extLst xmlns:a="http://schemas.openxmlformats.org/drawingml/2006/main">
              <a:ext uri="{FF2B5EF4-FFF2-40B4-BE49-F238E27FC236}">
                <a16:creationId xmlns:a16="http://schemas.microsoft.com/office/drawing/2014/main" id="{809E6FF9-DCF1-4213-BA89-635255386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interface. Every practice mode.</a:t>
            </a:r>
          </a:p>
        </p:txBody>
      </p:sp>
      <p:sp>
        <p:nvSpPr>
          <p:cNvPr id="2" name="screen-subtitle">
            <a:extLst xmlns:a="http://schemas.openxmlformats.org/drawingml/2006/main">
              <a:ext uri="{FF2B5EF4-FFF2-40B4-BE49-F238E27FC236}">
                <a16:creationId xmlns:a16="http://schemas.microsoft.com/office/drawing/2014/main" id="{6CA81B22-351E-4EE6-AE4B-7DF051C13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971550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EB8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EB8CA"/>
                </a:solidFill>
                <a:latin typeface="Arial"/>
                <a:ea typeface="Arial"/>
                <a:cs typeface="Arial"/>
              </a:rPr>
              <a:t>Tek arayüz. Tüm çalışma biçimleri.  •  Один интерфейс. Все форматы практики.</a:t>
            </a:r>
          </a:p>
        </p:txBody>
      </p:sp>
      <p:sp>
        <p:nvSpPr>
          <p:cNvPr id="3" name="screen-frame">
            <a:extLst xmlns:a="http://schemas.openxmlformats.org/drawingml/2006/main">
              <a:ext uri="{FF2B5EF4-FFF2-40B4-BE49-F238E27FC236}">
                <a16:creationId xmlns:a16="http://schemas.microsoft.com/office/drawing/2014/main" id="{E89FDF22-754A-422B-8795-E02822E8F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85900"/>
            <a:ext cx="1104900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171D2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64eabc3ca949bb"/>
          <a:stretch xmlns:a="http://schemas.openxmlformats.org/drawingml/2006/main"/>
        </p:blipFill>
        <p:spPr>
          <a:xfrm xmlns:a="http://schemas.openxmlformats.org/drawingml/2006/main">
            <a:off x="2728015" y="1600200"/>
            <a:ext cx="6735971" cy="4533900"/>
          </a:xfrm>
          <a:prstGeom xmlns:a="http://schemas.openxmlformats.org/drawingml/2006/main" prst="roundRect">
            <a:avLst>
              <a:gd name="adj" fmla="val 2521"/>
            </a:avLst>
          </a:prstGeom>
        </p:spPr>
      </p:pic>
      <p:sp>
        <p:nvSpPr>
          <p:cNvPr id="5" name="screen-footer">
            <a:extLst xmlns:a="http://schemas.openxmlformats.org/drawingml/2006/main">
              <a:ext uri="{FF2B5EF4-FFF2-40B4-BE49-F238E27FC236}">
                <a16:creationId xmlns:a16="http://schemas.microsoft.com/office/drawing/2014/main" id="{78CF2799-06AA-47E0-9BBA-A1E912B95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4770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AEB8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EB8CA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3210028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language-title">
            <a:extLst xmlns:a="http://schemas.openxmlformats.org/drawingml/2006/main">
              <a:ext uri="{FF2B5EF4-FFF2-40B4-BE49-F238E27FC236}">
                <a16:creationId xmlns:a16="http://schemas.microsoft.com/office/drawing/2014/main" id="{1F90C4AF-269E-4641-826C-9335896F2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895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One interface, three languages</a:t>
            </a:r>
          </a:p>
        </p:txBody>
      </p:sp>
      <p:sp>
        <p:nvSpPr>
          <p:cNvPr id="2" name="language-subtitle">
            <a:extLst xmlns:a="http://schemas.openxmlformats.org/drawingml/2006/main">
              <a:ext uri="{FF2B5EF4-FFF2-40B4-BE49-F238E27FC236}">
                <a16:creationId xmlns:a16="http://schemas.microsoft.com/office/drawing/2014/main" id="{F66C4026-AC46-4CE7-BDC7-5831AAAE3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Dil seçimi anında uygulanır ve sonraki açılış için kaydedilir.</a:t>
            </a:r>
          </a:p>
        </p:txBody>
      </p:sp>
      <p:sp>
        <p:nvSpPr>
          <p:cNvPr id="3" name="language-rule">
            <a:extLst xmlns:a="http://schemas.openxmlformats.org/drawingml/2006/main">
              <a:ext uri="{FF2B5EF4-FFF2-40B4-BE49-F238E27FC236}">
                <a16:creationId xmlns:a16="http://schemas.microsoft.com/office/drawing/2014/main" id="{B42BE569-3ED7-4123-A427-679D7877F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669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language-label-0">
            <a:extLst xmlns:a="http://schemas.openxmlformats.org/drawingml/2006/main">
              <a:ext uri="{FF2B5EF4-FFF2-40B4-BE49-F238E27FC236}">
                <a16:creationId xmlns:a16="http://schemas.microsoft.com/office/drawing/2014/main" id="{29C2C41A-2202-4B53-925D-0A09C06FC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66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5" name="language-head-0">
            <a:extLst xmlns:a="http://schemas.openxmlformats.org/drawingml/2006/main">
              <a:ext uri="{FF2B5EF4-FFF2-40B4-BE49-F238E27FC236}">
                <a16:creationId xmlns:a16="http://schemas.microsoft.com/office/drawing/2014/main" id="{A71FA71F-0BAF-4882-8EA7-9C7E1CF48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Öğrenmeye odaklanın</a:t>
            </a:r>
          </a:p>
        </p:txBody>
      </p:sp>
      <p:sp>
        <p:nvSpPr>
          <p:cNvPr id="6" name="language-body-0">
            <a:extLst xmlns:a="http://schemas.openxmlformats.org/drawingml/2006/main">
              <a:ext uri="{FF2B5EF4-FFF2-40B4-BE49-F238E27FC236}">
                <a16:creationId xmlns:a16="http://schemas.microsoft.com/office/drawing/2014/main" id="{A045C52A-E69F-4814-8EAA-7B2F93D74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0"/>
            <a:ext cx="3333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Menüler, çalışma akışı ve AI yönergeleri seçtiğiniz dile uyum sağlar.</a:t>
            </a:r>
          </a:p>
        </p:txBody>
      </p:sp>
      <p:sp>
        <p:nvSpPr>
          <p:cNvPr id="7" name="language-accent-0">
            <a:extLst xmlns:a="http://schemas.openxmlformats.org/drawingml/2006/main">
              <a:ext uri="{FF2B5EF4-FFF2-40B4-BE49-F238E27FC236}">
                <a16:creationId xmlns:a16="http://schemas.microsoft.com/office/drawing/2014/main" id="{28F0C614-9F86-41F6-B56C-05FFE5ACA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3340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0131A"/>
            </a:solidFill>
            <a:prstDash val="solid"/>
          </a:ln>
        </p:spPr>
      </p:sp>
      <p:sp>
        <p:nvSpPr>
          <p:cNvPr id="8" name="language-label-1">
            <a:extLst xmlns:a="http://schemas.openxmlformats.org/drawingml/2006/main">
              <a:ext uri="{FF2B5EF4-FFF2-40B4-BE49-F238E27FC236}">
                <a16:creationId xmlns:a16="http://schemas.microsoft.com/office/drawing/2014/main" id="{C2AD4D3B-C543-4AC0-BB3F-74CE5E4C5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266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9" name="language-head-1">
            <a:extLst xmlns:a="http://schemas.openxmlformats.org/drawingml/2006/main">
              <a:ext uri="{FF2B5EF4-FFF2-40B4-BE49-F238E27FC236}">
                <a16:creationId xmlns:a16="http://schemas.microsoft.com/office/drawing/2014/main" id="{7BACEA20-5705-4B7B-B6AD-D23C6AEDE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8130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Learn without friction</a:t>
            </a:r>
          </a:p>
        </p:txBody>
      </p:sp>
      <p:sp>
        <p:nvSpPr>
          <p:cNvPr id="10" name="language-body-1">
            <a:extLst xmlns:a="http://schemas.openxmlformats.org/drawingml/2006/main">
              <a:ext uri="{FF2B5EF4-FFF2-40B4-BE49-F238E27FC236}">
                <a16:creationId xmlns:a16="http://schemas.microsoft.com/office/drawing/2014/main" id="{19DFF8C7-5723-40CF-9607-8D546A89D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810000"/>
            <a:ext cx="3333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3D8DFF"/>
                </a:solidFill>
                <a:latin typeface="Arial"/>
                <a:ea typeface="Arial"/>
                <a:cs typeface="Arial"/>
              </a:rPr>
              <a:t>Navigation, study flows, and AI guidance follow your selected language.</a:t>
            </a:r>
          </a:p>
        </p:txBody>
      </p:sp>
      <p:sp>
        <p:nvSpPr>
          <p:cNvPr id="11" name="language-accent-1">
            <a:extLst xmlns:a="http://schemas.openxmlformats.org/drawingml/2006/main">
              <a:ext uri="{FF2B5EF4-FFF2-40B4-BE49-F238E27FC236}">
                <a16:creationId xmlns:a16="http://schemas.microsoft.com/office/drawing/2014/main" id="{FC46E218-A3BC-4EF0-8727-BFB852DE1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3340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D8DFF"/>
            </a:solidFill>
            <a:prstDash val="solid"/>
          </a:ln>
        </p:spPr>
      </p:sp>
      <p:sp>
        <p:nvSpPr>
          <p:cNvPr id="12" name="language-label-2">
            <a:extLst xmlns:a="http://schemas.openxmlformats.org/drawingml/2006/main">
              <a:ext uri="{FF2B5EF4-FFF2-40B4-BE49-F238E27FC236}">
                <a16:creationId xmlns:a16="http://schemas.microsoft.com/office/drawing/2014/main" id="{EF7A8B74-C096-49B7-A7DA-93A8EC57D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66950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РУССКИЙ</a:t>
            </a:r>
          </a:p>
        </p:txBody>
      </p:sp>
      <p:sp>
        <p:nvSpPr>
          <p:cNvPr id="13" name="language-head-2">
            <a:extLst xmlns:a="http://schemas.openxmlformats.org/drawingml/2006/main">
              <a:ext uri="{FF2B5EF4-FFF2-40B4-BE49-F238E27FC236}">
                <a16:creationId xmlns:a16="http://schemas.microsoft.com/office/drawing/2014/main" id="{EDA8C0E2-FD7B-4EF9-94BD-D51C114E5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8130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Учитесь без барьеров</a:t>
            </a:r>
          </a:p>
        </p:txBody>
      </p:sp>
      <p:sp>
        <p:nvSpPr>
          <p:cNvPr id="14" name="language-body-2">
            <a:extLst xmlns:a="http://schemas.openxmlformats.org/drawingml/2006/main">
              <a:ext uri="{FF2B5EF4-FFF2-40B4-BE49-F238E27FC236}">
                <a16:creationId xmlns:a16="http://schemas.microsoft.com/office/drawing/2014/main" id="{D659C35E-E903-461E-A57A-C53C242AB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810000"/>
            <a:ext cx="33337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Навигация, упражнения и инструкции для ИИ работают на выбранном языке.</a:t>
            </a:r>
          </a:p>
        </p:txBody>
      </p:sp>
      <p:sp>
        <p:nvSpPr>
          <p:cNvPr id="15" name="language-accent-2">
            <a:extLst xmlns:a="http://schemas.openxmlformats.org/drawingml/2006/main">
              <a:ext uri="{FF2B5EF4-FFF2-40B4-BE49-F238E27FC236}">
                <a16:creationId xmlns:a16="http://schemas.microsoft.com/office/drawing/2014/main" id="{7A66F3CA-1C21-43DD-904F-250B401B5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33400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5F6675"/>
            </a:solidFill>
            <a:prstDash val="solid"/>
          </a:ln>
        </p:spPr>
      </p:sp>
      <p:sp>
        <p:nvSpPr>
          <p:cNvPr id="16" name="footer-3">
            <a:extLst xmlns:a="http://schemas.openxmlformats.org/drawingml/2006/main">
              <a:ext uri="{FF2B5EF4-FFF2-40B4-BE49-F238E27FC236}">
                <a16:creationId xmlns:a16="http://schemas.microsoft.com/office/drawing/2014/main" id="{CAE9B77E-EEDB-4F8A-BBF1-A6DEF896B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5446848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loop-title">
            <a:extLst xmlns:a="http://schemas.openxmlformats.org/drawingml/2006/main">
              <a:ext uri="{FF2B5EF4-FFF2-40B4-BE49-F238E27FC236}">
                <a16:creationId xmlns:a16="http://schemas.microsoft.com/office/drawing/2014/main" id="{D2B844B8-A3BA-4F40-A2D2-7E51E3107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A daily loop that keeps momentum</a:t>
            </a:r>
          </a:p>
        </p:txBody>
      </p:sp>
      <p:sp>
        <p:nvSpPr>
          <p:cNvPr id="2" name="loop-subtitle">
            <a:extLst xmlns:a="http://schemas.openxmlformats.org/drawingml/2006/main">
              <a:ext uri="{FF2B5EF4-FFF2-40B4-BE49-F238E27FC236}">
                <a16:creationId xmlns:a16="http://schemas.microsoft.com/office/drawing/2014/main" id="{14B8B205-91B4-4169-9F9D-99A3E0B1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1066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Her gün küçük bir döngü.  •  A small loop every day.  •  Небольшой цикл каждый день.</a:t>
            </a:r>
          </a:p>
        </p:txBody>
      </p:sp>
      <p:sp>
        <p:nvSpPr>
          <p:cNvPr id="3" name="loop-track">
            <a:extLst xmlns:a="http://schemas.openxmlformats.org/drawingml/2006/main">
              <a:ext uri="{FF2B5EF4-FFF2-40B4-BE49-F238E27FC236}">
                <a16:creationId xmlns:a16="http://schemas.microsoft.com/office/drawing/2014/main" id="{AEF94EB4-A663-4485-A408-08CEC32A5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43250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8BCC4"/>
            </a:solidFill>
            <a:prstDash val="solid"/>
          </a:ln>
        </p:spPr>
      </p:sp>
      <p:sp>
        <p:nvSpPr>
          <p:cNvPr id="4" name="loop-node-0">
            <a:extLst xmlns:a="http://schemas.openxmlformats.org/drawingml/2006/main">
              <a:ext uri="{FF2B5EF4-FFF2-40B4-BE49-F238E27FC236}">
                <a16:creationId xmlns:a16="http://schemas.microsoft.com/office/drawing/2014/main" id="{FBF4EF35-0D7D-4271-8A84-AD1B58BE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5905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3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loop-number-0">
            <a:extLst xmlns:a="http://schemas.openxmlformats.org/drawingml/2006/main">
              <a:ext uri="{FF2B5EF4-FFF2-40B4-BE49-F238E27FC236}">
                <a16:creationId xmlns:a16="http://schemas.microsoft.com/office/drawing/2014/main" id="{87E9521F-9155-406A-9F52-2635593C1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99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loop-en-0">
            <a:extLst xmlns:a="http://schemas.openxmlformats.org/drawingml/2006/main">
              <a:ext uri="{FF2B5EF4-FFF2-40B4-BE49-F238E27FC236}">
                <a16:creationId xmlns:a16="http://schemas.microsoft.com/office/drawing/2014/main" id="{71AFA280-A481-4781-AD82-2BA62DA42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29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7" name="loop-tr-0">
            <a:extLst xmlns:a="http://schemas.openxmlformats.org/drawingml/2006/main">
              <a:ext uri="{FF2B5EF4-FFF2-40B4-BE49-F238E27FC236}">
                <a16:creationId xmlns:a16="http://schemas.microsoft.com/office/drawing/2014/main" id="{47C7E4B3-5707-4CB2-95AD-01880B068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ÖĞREN</a:t>
            </a:r>
          </a:p>
        </p:txBody>
      </p:sp>
      <p:sp>
        <p:nvSpPr>
          <p:cNvPr id="8" name="loop-ru-0">
            <a:extLst xmlns:a="http://schemas.openxmlformats.org/drawingml/2006/main">
              <a:ext uri="{FF2B5EF4-FFF2-40B4-BE49-F238E27FC236}">
                <a16:creationId xmlns:a16="http://schemas.microsoft.com/office/drawing/2014/main" id="{64525873-8194-4319-895E-469EA690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29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УЧИТЬ</a:t>
            </a:r>
          </a:p>
        </p:txBody>
      </p:sp>
      <p:sp>
        <p:nvSpPr>
          <p:cNvPr id="9" name="loop-detail-0">
            <a:extLst xmlns:a="http://schemas.openxmlformats.org/drawingml/2006/main">
              <a:ext uri="{FF2B5EF4-FFF2-40B4-BE49-F238E27FC236}">
                <a16:creationId xmlns:a16="http://schemas.microsoft.com/office/drawing/2014/main" id="{4C779C39-B844-4549-ACF2-AD4775786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00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Words • Cyrillic • Grammar</a:t>
            </a:r>
          </a:p>
        </p:txBody>
      </p:sp>
      <p:sp>
        <p:nvSpPr>
          <p:cNvPr id="10" name="loop-node-1">
            <a:extLst xmlns:a="http://schemas.openxmlformats.org/drawingml/2006/main">
              <a:ext uri="{FF2B5EF4-FFF2-40B4-BE49-F238E27FC236}">
                <a16:creationId xmlns:a16="http://schemas.microsoft.com/office/drawing/2014/main" id="{87D5917D-C62B-4366-BE64-D26E8CE14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857500"/>
            <a:ext cx="5905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loop-number-1">
            <a:extLst xmlns:a="http://schemas.openxmlformats.org/drawingml/2006/main">
              <a:ext uri="{FF2B5EF4-FFF2-40B4-BE49-F238E27FC236}">
                <a16:creationId xmlns:a16="http://schemas.microsoft.com/office/drawing/2014/main" id="{568BD2FA-47B6-4F0E-AB5C-A4C3BE84B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099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loop-en-1">
            <a:extLst xmlns:a="http://schemas.openxmlformats.org/drawingml/2006/main">
              <a:ext uri="{FF2B5EF4-FFF2-40B4-BE49-F238E27FC236}">
                <a16:creationId xmlns:a16="http://schemas.microsoft.com/office/drawing/2014/main" id="{5B270218-24CD-4119-89B6-C777AEFBA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829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PRACTICE</a:t>
            </a:r>
          </a:p>
        </p:txBody>
      </p:sp>
      <p:sp>
        <p:nvSpPr>
          <p:cNvPr id="13" name="loop-tr-1">
            <a:extLst xmlns:a="http://schemas.openxmlformats.org/drawingml/2006/main">
              <a:ext uri="{FF2B5EF4-FFF2-40B4-BE49-F238E27FC236}">
                <a16:creationId xmlns:a16="http://schemas.microsoft.com/office/drawing/2014/main" id="{E21D80C1-81D5-4E23-B0DB-45A09DB5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67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PRATİK</a:t>
            </a:r>
          </a:p>
        </p:txBody>
      </p:sp>
      <p:sp>
        <p:nvSpPr>
          <p:cNvPr id="14" name="loop-ru-1">
            <a:extLst xmlns:a="http://schemas.openxmlformats.org/drawingml/2006/main">
              <a:ext uri="{FF2B5EF4-FFF2-40B4-BE49-F238E27FC236}">
                <a16:creationId xmlns:a16="http://schemas.microsoft.com/office/drawing/2014/main" id="{644037C0-64F2-44E7-AA19-762969DBE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629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ПРАКТИКА</a:t>
            </a:r>
          </a:p>
        </p:txBody>
      </p:sp>
      <p:sp>
        <p:nvSpPr>
          <p:cNvPr id="15" name="loop-detail-1">
            <a:extLst xmlns:a="http://schemas.openxmlformats.org/drawingml/2006/main">
              <a:ext uri="{FF2B5EF4-FFF2-40B4-BE49-F238E27FC236}">
                <a16:creationId xmlns:a16="http://schemas.microsoft.com/office/drawing/2014/main" id="{64686C18-C70B-4152-A0FC-0B9C4714E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200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Speaking • Writing • Pronunciation</a:t>
            </a:r>
          </a:p>
        </p:txBody>
      </p:sp>
      <p:sp>
        <p:nvSpPr>
          <p:cNvPr id="16" name="loop-node-2">
            <a:extLst xmlns:a="http://schemas.openxmlformats.org/drawingml/2006/main">
              <a:ext uri="{FF2B5EF4-FFF2-40B4-BE49-F238E27FC236}">
                <a16:creationId xmlns:a16="http://schemas.microsoft.com/office/drawing/2014/main" id="{DD0D2DDF-1752-4ACD-A01A-016823CAD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57500"/>
            <a:ext cx="590550" cy="590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0131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loop-number-2">
            <a:extLst xmlns:a="http://schemas.openxmlformats.org/drawingml/2006/main">
              <a:ext uri="{FF2B5EF4-FFF2-40B4-BE49-F238E27FC236}">
                <a16:creationId xmlns:a16="http://schemas.microsoft.com/office/drawing/2014/main" id="{286DBB46-2748-4138-B184-3177F3918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09900"/>
            <a:ext cx="590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8" name="loop-en-2">
            <a:extLst xmlns:a="http://schemas.openxmlformats.org/drawingml/2006/main">
              <a:ext uri="{FF2B5EF4-FFF2-40B4-BE49-F238E27FC236}">
                <a16:creationId xmlns:a16="http://schemas.microsoft.com/office/drawing/2014/main" id="{03AF0227-A8AA-4C56-B920-01F765A10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8290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19" name="loop-tr-2">
            <a:extLst xmlns:a="http://schemas.openxmlformats.org/drawingml/2006/main">
              <a:ext uri="{FF2B5EF4-FFF2-40B4-BE49-F238E27FC236}">
                <a16:creationId xmlns:a16="http://schemas.microsoft.com/office/drawing/2014/main" id="{28ECF146-50D0-4AD8-A36F-F5B005B7F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267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TEKRAR</a:t>
            </a:r>
          </a:p>
        </p:txBody>
      </p:sp>
      <p:sp>
        <p:nvSpPr>
          <p:cNvPr id="20" name="loop-ru-2">
            <a:extLst xmlns:a="http://schemas.openxmlformats.org/drawingml/2006/main">
              <a:ext uri="{FF2B5EF4-FFF2-40B4-BE49-F238E27FC236}">
                <a16:creationId xmlns:a16="http://schemas.microsoft.com/office/drawing/2014/main" id="{E713A6B6-458D-48C8-904A-C1AA3A242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629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ПОВТОРЕНИЕ</a:t>
            </a:r>
          </a:p>
        </p:txBody>
      </p:sp>
      <p:sp>
        <p:nvSpPr>
          <p:cNvPr id="21" name="loop-detail-2">
            <a:extLst xmlns:a="http://schemas.openxmlformats.org/drawingml/2006/main">
              <a:ext uri="{FF2B5EF4-FFF2-40B4-BE49-F238E27FC236}">
                <a16:creationId xmlns:a16="http://schemas.microsoft.com/office/drawing/2014/main" id="{5E58B6B5-EE16-4CD7-93E1-3150AC115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20065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Spaced review • Exams • Progress</a:t>
            </a:r>
          </a:p>
        </p:txBody>
      </p:sp>
      <p:sp>
        <p:nvSpPr>
          <p:cNvPr id="22" name="footer-4">
            <a:extLst xmlns:a="http://schemas.openxmlformats.org/drawingml/2006/main">
              <a:ext uri="{FF2B5EF4-FFF2-40B4-BE49-F238E27FC236}">
                <a16:creationId xmlns:a16="http://schemas.microsoft.com/office/drawing/2014/main" id="{2F2775CD-F227-46E6-B21A-7103F7ADA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8570177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DEF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readth-title">
            <a:extLst xmlns:a="http://schemas.openxmlformats.org/drawingml/2006/main">
              <a:ext uri="{FF2B5EF4-FFF2-40B4-BE49-F238E27FC236}">
                <a16:creationId xmlns:a16="http://schemas.microsoft.com/office/drawing/2014/main" id="{E5264E20-C098-4923-8412-0A898EFC4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More than flashcards</a:t>
            </a:r>
          </a:p>
        </p:txBody>
      </p:sp>
      <p:sp>
        <p:nvSpPr>
          <p:cNvPr id="2" name="breadth-triple">
            <a:extLst xmlns:a="http://schemas.openxmlformats.org/drawingml/2006/main">
              <a:ext uri="{FF2B5EF4-FFF2-40B4-BE49-F238E27FC236}">
                <a16:creationId xmlns:a16="http://schemas.microsoft.com/office/drawing/2014/main" id="{97358284-7AF4-42AD-832D-62FCE03BA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287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Kelime kartlarından fazlası  •  Больше, чем карточки</a:t>
            </a:r>
          </a:p>
        </p:txBody>
      </p:sp>
      <p:sp>
        <p:nvSpPr>
          <p:cNvPr id="3" name="breadth-number">
            <a:extLst xmlns:a="http://schemas.openxmlformats.org/drawingml/2006/main">
              <a:ext uri="{FF2B5EF4-FFF2-40B4-BE49-F238E27FC236}">
                <a16:creationId xmlns:a16="http://schemas.microsoft.com/office/drawing/2014/main" id="{897DB089-EEBE-4C9B-973F-FC6996C3B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962150"/>
            <a:ext cx="3429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12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4" name="breadth-caption">
            <a:extLst xmlns:a="http://schemas.openxmlformats.org/drawingml/2006/main">
              <a:ext uri="{FF2B5EF4-FFF2-40B4-BE49-F238E27FC236}">
                <a16:creationId xmlns:a16="http://schemas.microsoft.com/office/drawing/2014/main" id="{8F9899BB-DCB7-42F3-94A0-2FB34FA5A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48150"/>
            <a:ext cx="4000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focused workspaces</a:t>
            </a:r>
          </a:p>
          <a:p xmlns:a="http://schemas.openxmlformats.org/drawingml/2006/main">
            <a:pPr algn="l">
              <a:defRPr sz="187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odaklı çalışma alanı</a:t>
            </a:r>
          </a:p>
          <a:p xmlns:a="http://schemas.openxmlformats.org/drawingml/2006/main">
            <a:pPr algn="l">
              <a:defRPr sz="187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специализированных разделов</a:t>
            </a:r>
          </a:p>
        </p:txBody>
      </p:sp>
      <p:sp>
        <p:nvSpPr>
          <p:cNvPr id="5" name="breadth-divider">
            <a:extLst xmlns:a="http://schemas.openxmlformats.org/drawingml/2006/main">
              <a:ext uri="{FF2B5EF4-FFF2-40B4-BE49-F238E27FC236}">
                <a16:creationId xmlns:a16="http://schemas.microsoft.com/office/drawing/2014/main" id="{8C31E0BD-72D8-48D9-BE7E-53273F4DF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90700"/>
            <a:ext cx="0" cy="3943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breadth-item-rule-0">
            <a:extLst xmlns:a="http://schemas.openxmlformats.org/drawingml/2006/main">
              <a:ext uri="{FF2B5EF4-FFF2-40B4-BE49-F238E27FC236}">
                <a16:creationId xmlns:a16="http://schemas.microsoft.com/office/drawing/2014/main" id="{79E464FE-034A-4E16-A1BC-448BA91E4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2479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breadth-item-0">
            <a:extLst xmlns:a="http://schemas.openxmlformats.org/drawingml/2006/main">
              <a:ext uri="{FF2B5EF4-FFF2-40B4-BE49-F238E27FC236}">
                <a16:creationId xmlns:a16="http://schemas.microsoft.com/office/drawing/2014/main" id="{C009B1DD-F4FF-4DE1-B019-AEF165825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19240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Word bank · Kelime bankası · Словарь</a:t>
            </a:r>
          </a:p>
        </p:txBody>
      </p:sp>
      <p:sp>
        <p:nvSpPr>
          <p:cNvPr id="8" name="breadth-item-rule-1">
            <a:extLst xmlns:a="http://schemas.openxmlformats.org/drawingml/2006/main">
              <a:ext uri="{FF2B5EF4-FFF2-40B4-BE49-F238E27FC236}">
                <a16:creationId xmlns:a16="http://schemas.microsoft.com/office/drawing/2014/main" id="{00F0A5C0-F805-4F66-8FB9-F85E660C8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80035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breadth-item-1">
            <a:extLst xmlns:a="http://schemas.openxmlformats.org/drawingml/2006/main">
              <a:ext uri="{FF2B5EF4-FFF2-40B4-BE49-F238E27FC236}">
                <a16:creationId xmlns:a16="http://schemas.microsoft.com/office/drawing/2014/main" id="{7336A383-8413-47F3-886B-317EF1108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47650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Grammar labs · Dilbilgisi laboratuvarı · Грамматика</a:t>
            </a:r>
          </a:p>
        </p:txBody>
      </p:sp>
      <p:sp>
        <p:nvSpPr>
          <p:cNvPr id="10" name="breadth-item-rule-2">
            <a:extLst xmlns:a="http://schemas.openxmlformats.org/drawingml/2006/main">
              <a:ext uri="{FF2B5EF4-FFF2-40B4-BE49-F238E27FC236}">
                <a16:creationId xmlns:a16="http://schemas.microsoft.com/office/drawing/2014/main" id="{91B54514-B85C-420A-BF6C-EDF4292BD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3528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breadth-item-2">
            <a:extLst xmlns:a="http://schemas.openxmlformats.org/drawingml/2006/main">
              <a:ext uri="{FF2B5EF4-FFF2-40B4-BE49-F238E27FC236}">
                <a16:creationId xmlns:a16="http://schemas.microsoft.com/office/drawing/2014/main" id="{74F2F957-EC53-4709-914E-CE081CCF0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289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PDF reader · PDF okuyucu · PDF-читалка</a:t>
            </a:r>
          </a:p>
        </p:txBody>
      </p:sp>
      <p:sp>
        <p:nvSpPr>
          <p:cNvPr id="12" name="breadth-item-rule-3">
            <a:extLst xmlns:a="http://schemas.openxmlformats.org/drawingml/2006/main">
              <a:ext uri="{FF2B5EF4-FFF2-40B4-BE49-F238E27FC236}">
                <a16:creationId xmlns:a16="http://schemas.microsoft.com/office/drawing/2014/main" id="{62D3CFB6-F051-4199-9EB1-CF4FD0011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90525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breadth-item-3">
            <a:extLst xmlns:a="http://schemas.openxmlformats.org/drawingml/2006/main">
              <a:ext uri="{FF2B5EF4-FFF2-40B4-BE49-F238E27FC236}">
                <a16:creationId xmlns:a16="http://schemas.microsoft.com/office/drawing/2014/main" id="{EDBEA7AD-4604-4397-A837-6686B10D6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58140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AI tutor · AI öğretmen · ИИ-преподаватель</a:t>
            </a:r>
          </a:p>
        </p:txBody>
      </p:sp>
      <p:sp>
        <p:nvSpPr>
          <p:cNvPr id="14" name="breadth-item-rule-4">
            <a:extLst xmlns:a="http://schemas.openxmlformats.org/drawingml/2006/main">
              <a:ext uri="{FF2B5EF4-FFF2-40B4-BE49-F238E27FC236}">
                <a16:creationId xmlns:a16="http://schemas.microsoft.com/office/drawing/2014/main" id="{07D4968F-ABA7-4A5F-91E2-12DC332F5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4577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9DE"/>
            </a:solidFill>
            <a:prstDash val="solid"/>
          </a:ln>
        </p:spPr>
      </p:sp>
      <p:sp>
        <p:nvSpPr>
          <p:cNvPr id="15" name="breadth-item-4">
            <a:extLst xmlns:a="http://schemas.openxmlformats.org/drawingml/2006/main">
              <a:ext uri="{FF2B5EF4-FFF2-40B4-BE49-F238E27FC236}">
                <a16:creationId xmlns:a16="http://schemas.microsoft.com/office/drawing/2014/main" id="{C05839A5-8C15-4FE6-891B-2DA4CA330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1338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Speaking, handwriting, exams, progress</a:t>
            </a:r>
          </a:p>
        </p:txBody>
      </p:sp>
      <p:sp>
        <p:nvSpPr>
          <p:cNvPr id="16" name="breadth-item-rule-5">
            <a:extLst xmlns:a="http://schemas.openxmlformats.org/drawingml/2006/main">
              <a:ext uri="{FF2B5EF4-FFF2-40B4-BE49-F238E27FC236}">
                <a16:creationId xmlns:a16="http://schemas.microsoft.com/office/drawing/2014/main" id="{71F9651A-F64A-4A39-B195-E0ABF9A56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01015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9DE"/>
            </a:solidFill>
            <a:prstDash val="solid"/>
          </a:ln>
        </p:spPr>
      </p:sp>
      <p:sp>
        <p:nvSpPr>
          <p:cNvPr id="17" name="breadth-item-5">
            <a:extLst xmlns:a="http://schemas.openxmlformats.org/drawingml/2006/main">
              <a:ext uri="{FF2B5EF4-FFF2-40B4-BE49-F238E27FC236}">
                <a16:creationId xmlns:a16="http://schemas.microsoft.com/office/drawing/2014/main" id="{303FA82B-59F0-4291-9A22-A68368D23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68630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Konuşma, el yazısı, sınav, ilerleme</a:t>
            </a:r>
          </a:p>
        </p:txBody>
      </p:sp>
      <p:sp>
        <p:nvSpPr>
          <p:cNvPr id="18" name="breadth-item-rule-6">
            <a:extLst xmlns:a="http://schemas.openxmlformats.org/drawingml/2006/main">
              <a:ext uri="{FF2B5EF4-FFF2-40B4-BE49-F238E27FC236}">
                <a16:creationId xmlns:a16="http://schemas.microsoft.com/office/drawing/2014/main" id="{A7CE26D3-6F2E-4B04-8243-C248F010E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562600"/>
            <a:ext cx="5962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9DE"/>
            </a:solidFill>
            <a:prstDash val="solid"/>
          </a:ln>
        </p:spPr>
      </p:sp>
      <p:sp>
        <p:nvSpPr>
          <p:cNvPr id="19" name="breadth-item-6">
            <a:extLst xmlns:a="http://schemas.openxmlformats.org/drawingml/2006/main">
              <a:ext uri="{FF2B5EF4-FFF2-40B4-BE49-F238E27FC236}">
                <a16:creationId xmlns:a16="http://schemas.microsoft.com/office/drawing/2014/main" id="{6774811F-148C-45E4-A59E-D1F5D6CCB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238750"/>
            <a:ext cx="596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0131A"/>
                </a:solidFill>
                <a:latin typeface="Arial"/>
                <a:ea typeface="Arial"/>
                <a:cs typeface="Arial"/>
              </a:rPr>
              <a:t>Разговор, почерк, экзамены, прогресс</a:t>
            </a:r>
          </a:p>
        </p:txBody>
      </p:sp>
      <p:sp>
        <p:nvSpPr>
          <p:cNvPr id="20" name="footer-5">
            <a:extLst xmlns:a="http://schemas.openxmlformats.org/drawingml/2006/main">
              <a:ext uri="{FF2B5EF4-FFF2-40B4-BE49-F238E27FC236}">
                <a16:creationId xmlns:a16="http://schemas.microsoft.com/office/drawing/2014/main" id="{BC148480-84B1-4427-86B3-8174E4D57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656934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privacy-title">
            <a:extLst xmlns:a="http://schemas.openxmlformats.org/drawingml/2006/main">
              <a:ext uri="{FF2B5EF4-FFF2-40B4-BE49-F238E27FC236}">
                <a16:creationId xmlns:a16="http://schemas.microsoft.com/office/drawing/2014/main" id="{36E0722C-6F40-4926-A8BA-1A5A92A3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Private by default. Flexible when needed.</a:t>
            </a:r>
          </a:p>
        </p:txBody>
      </p:sp>
      <p:sp>
        <p:nvSpPr>
          <p:cNvPr id="2" name="privacy-tr">
            <a:extLst xmlns:a="http://schemas.openxmlformats.org/drawingml/2006/main">
              <a:ext uri="{FF2B5EF4-FFF2-40B4-BE49-F238E27FC236}">
                <a16:creationId xmlns:a16="http://schemas.microsoft.com/office/drawing/2014/main" id="{63E0D95D-6E5A-44AE-BCCC-96C5ABFC5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09650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Varsayılan olarak özel. Gerektiğinde esnek.</a:t>
            </a:r>
          </a:p>
        </p:txBody>
      </p:sp>
      <p:sp>
        <p:nvSpPr>
          <p:cNvPr id="3" name="privacy-ru">
            <a:extLst xmlns:a="http://schemas.openxmlformats.org/drawingml/2006/main">
              <a:ext uri="{FF2B5EF4-FFF2-40B4-BE49-F238E27FC236}">
                <a16:creationId xmlns:a16="http://schemas.microsoft.com/office/drawing/2014/main" id="{94A1D7CA-2E95-4981-87B4-FB803B8D7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335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Конфиденциальность по умолчанию. Гибкость при необходимости.</a:t>
            </a:r>
          </a:p>
        </p:txBody>
      </p:sp>
      <p:sp>
        <p:nvSpPr>
          <p:cNvPr id="4" name="privacy-divider">
            <a:extLst xmlns:a="http://schemas.openxmlformats.org/drawingml/2006/main">
              <a:ext uri="{FF2B5EF4-FFF2-40B4-BE49-F238E27FC236}">
                <a16:creationId xmlns:a16="http://schemas.microsoft.com/office/drawing/2014/main" id="{13FFE2E8-D8C6-41A6-806C-F428173E1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19300"/>
            <a:ext cx="0" cy="3333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local-label">
            <a:extLst xmlns:a="http://schemas.openxmlformats.org/drawingml/2006/main">
              <a:ext uri="{FF2B5EF4-FFF2-40B4-BE49-F238E27FC236}">
                <a16:creationId xmlns:a16="http://schemas.microsoft.com/office/drawing/2014/main" id="{1FD221DB-B6AA-41C2-B064-F2CFFFA37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9075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LOCAL CORE</a:t>
            </a:r>
          </a:p>
        </p:txBody>
      </p:sp>
      <p:sp>
        <p:nvSpPr>
          <p:cNvPr id="6" name="local-head">
            <a:extLst xmlns:a="http://schemas.openxmlformats.org/drawingml/2006/main">
              <a:ext uri="{FF2B5EF4-FFF2-40B4-BE49-F238E27FC236}">
                <a16:creationId xmlns:a16="http://schemas.microsoft.com/office/drawing/2014/main" id="{8D9523C8-5CE2-45F1-ACEE-3C3C05271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Study data stays on your machine</a:t>
            </a:r>
          </a:p>
        </p:txBody>
      </p:sp>
      <p:sp>
        <p:nvSpPr>
          <p:cNvPr id="7" name="local-copy">
            <a:extLst xmlns:a="http://schemas.openxmlformats.org/drawingml/2006/main">
              <a:ext uri="{FF2B5EF4-FFF2-40B4-BE49-F238E27FC236}">
                <a16:creationId xmlns:a16="http://schemas.microsoft.com/office/drawing/2014/main" id="{BEA3703B-6911-4861-9D14-D6CC45D64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38550"/>
            <a:ext cx="4762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İlerleme SQLite içinde yerel saklanır.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AI, LM Studio üzerinden yerelde çalışabilir.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Прогресс хранится локально в SQLite.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ИИ может работать локально через LM Studio.</a:t>
            </a:r>
          </a:p>
        </p:txBody>
      </p:sp>
      <p:sp>
        <p:nvSpPr>
          <p:cNvPr id="8" name="optional-label">
            <a:extLst xmlns:a="http://schemas.openxmlformats.org/drawingml/2006/main">
              <a:ext uri="{FF2B5EF4-FFF2-40B4-BE49-F238E27FC236}">
                <a16:creationId xmlns:a16="http://schemas.microsoft.com/office/drawing/2014/main" id="{D3A55105-6C76-48C3-81A9-D81CD4EB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19075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OPTIONAL NETWORK</a:t>
            </a:r>
          </a:p>
        </p:txBody>
      </p:sp>
      <p:sp>
        <p:nvSpPr>
          <p:cNvPr id="9" name="optional-head">
            <a:extLst xmlns:a="http://schemas.openxmlformats.org/drawingml/2006/main">
              <a:ext uri="{FF2B5EF4-FFF2-40B4-BE49-F238E27FC236}">
                <a16:creationId xmlns:a16="http://schemas.microsoft.com/office/drawing/2014/main" id="{1DF12856-5854-4ED7-9711-92CD12D19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66700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Online features activate only by choice</a:t>
            </a:r>
          </a:p>
        </p:txBody>
      </p:sp>
      <p:sp>
        <p:nvSpPr>
          <p:cNvPr id="10" name="optional-copy">
            <a:extLst xmlns:a="http://schemas.openxmlformats.org/drawingml/2006/main">
              <a:ext uri="{FF2B5EF4-FFF2-40B4-BE49-F238E27FC236}">
                <a16:creationId xmlns:a16="http://schemas.microsoft.com/office/drawing/2014/main" id="{671F3D9E-C1FB-4DBD-9F8B-60DCC6393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38550"/>
            <a:ext cx="4762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Kaynak indirmeleri ve NVIDIA NIM internet kullanır.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Core learning remains available without them.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Загрузки ресурсов и NVIDIA NIM используют интернет.</a:t>
            </a:r>
          </a:p>
          <a:p xmlns:a="http://schemas.openxmlformats.org/drawingml/2006/main">
            <a:pPr algn="l">
              <a:defRPr sz="142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Основное обучение доступно и без них.</a:t>
            </a:r>
          </a:p>
        </p:txBody>
      </p:sp>
      <p:sp>
        <p:nvSpPr>
          <p:cNvPr id="11" name="footer-6">
            <a:extLst xmlns:a="http://schemas.openxmlformats.org/drawingml/2006/main">
              <a:ext uri="{FF2B5EF4-FFF2-40B4-BE49-F238E27FC236}">
                <a16:creationId xmlns:a16="http://schemas.microsoft.com/office/drawing/2014/main" id="{701E80FE-3449-400D-889C-597DCBC3B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644062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57CCA191-3BB3-4CC8-9D71-A7803BA13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START YOUR NEXT SESSION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3C72C30B-3688-4F15-90BF-C9A1FE5B6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10001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Build a Russian routine</a:t>
            </a:r>
          </a:p>
          <a:p xmlns:a="http://schemas.openxmlformats.org/drawingml/2006/main">
            <a:pPr algn="l">
              <a:defRPr sz="4650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that belongs to you.</a:t>
            </a:r>
          </a:p>
        </p:txBody>
      </p:sp>
      <p:sp>
        <p:nvSpPr>
          <p:cNvPr id="3" name="close-tr">
            <a:extLst xmlns:a="http://schemas.openxmlformats.org/drawingml/2006/main">
              <a:ext uri="{FF2B5EF4-FFF2-40B4-BE49-F238E27FC236}">
                <a16:creationId xmlns:a16="http://schemas.microsoft.com/office/drawing/2014/main" id="{E70AE877-0B21-434D-9DFA-D3414FCD9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2435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0131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0131A"/>
                </a:solidFill>
                <a:latin typeface="Arial"/>
                <a:ea typeface="Arial"/>
                <a:cs typeface="Arial"/>
              </a:rPr>
              <a:t>Size ait bir Rusça rutini oluşturun.</a:t>
            </a:r>
          </a:p>
        </p:txBody>
      </p:sp>
      <p:sp>
        <p:nvSpPr>
          <p:cNvPr id="4" name="close-ru">
            <a:extLst xmlns:a="http://schemas.openxmlformats.org/drawingml/2006/main">
              <a:ext uri="{FF2B5EF4-FFF2-40B4-BE49-F238E27FC236}">
                <a16:creationId xmlns:a16="http://schemas.microsoft.com/office/drawing/2014/main" id="{AD21F1FB-F68F-4895-B91F-E95F754CF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006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5F6675"/>
                </a:solidFill>
                <a:latin typeface="Arial"/>
                <a:ea typeface="Arial"/>
                <a:cs typeface="Arial"/>
              </a:rPr>
              <a:t>Создайте свой ритм изучения русского.</a:t>
            </a:r>
          </a:p>
        </p:txBody>
      </p:sp>
      <p:sp>
        <p:nvSpPr>
          <p:cNvPr id="5" name="close-rule">
            <a:extLst xmlns:a="http://schemas.openxmlformats.org/drawingml/2006/main">
              <a:ext uri="{FF2B5EF4-FFF2-40B4-BE49-F238E27FC236}">
                <a16:creationId xmlns:a16="http://schemas.microsoft.com/office/drawing/2014/main" id="{AAD85EC3-A229-4738-8D4C-A0BE9BD85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0"/>
            <a:ext cx="11391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close-action">
            <a:extLst xmlns:a="http://schemas.openxmlformats.org/drawingml/2006/main">
              <a:ext uri="{FF2B5EF4-FFF2-40B4-BE49-F238E27FC236}">
                <a16:creationId xmlns:a16="http://schemas.microsoft.com/office/drawing/2014/main" id="{3C5473A6-32BE-402D-A048-3E06CBFEC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48350"/>
            <a:ext cx="590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D8D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3D8DFF"/>
                </a:solidFill>
                <a:latin typeface="Arial"/>
                <a:ea typeface="Arial"/>
                <a:cs typeface="Arial"/>
              </a:rPr>
              <a:t>INSTALL  •  LEARN  •  REVIEW</a:t>
            </a:r>
          </a:p>
        </p:txBody>
      </p:sp>
      <p:sp>
        <p:nvSpPr>
          <p:cNvPr id="7" name="close-meta">
            <a:extLst xmlns:a="http://schemas.openxmlformats.org/drawingml/2006/main">
              <a:ext uri="{FF2B5EF4-FFF2-40B4-BE49-F238E27FC236}">
                <a16:creationId xmlns:a16="http://schemas.microsoft.com/office/drawing/2014/main" id="{17DB61F9-B82E-423F-8272-2B88C01B8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848350"/>
            <a:ext cx="455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Windows  •  A1-C1  •  TR / EN / RU</a:t>
            </a:r>
          </a:p>
        </p:txBody>
      </p:sp>
      <p:sp>
        <p:nvSpPr>
          <p:cNvPr id="8" name="footer-7">
            <a:extLst xmlns:a="http://schemas.openxmlformats.org/drawingml/2006/main">
              <a:ext uri="{FF2B5EF4-FFF2-40B4-BE49-F238E27FC236}">
                <a16:creationId xmlns:a16="http://schemas.microsoft.com/office/drawing/2014/main" id="{4008E400-7DD0-4FB6-849C-DB0CF2621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F6675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F667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3468873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2026-08-30T16:16:18.0620000Z</dcterms:created>
  <dcterms:modified xsi:type="dcterms:W3CDTF">2026-08-30T16:16:18.0630000Z</dcterms:modified>
</coreProperties>
</file>